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30s</a:t>
            </a:r>
          </a:p>
          <a:p/>
          <a:p>
            <a:r>
              <a:t>Good morning, everyone! Over the past 3 days, this Business Plan was my working draft — after every session and tool, I sharpened it. It helped me clarify my goals as a new Unit Head, think hard about my recruitment strategy, apply the lessons immediately, and build a plan I can execute right after this program.</a:t>
            </a:r>
          </a:p>
          <a:p/>
          <a:p>
            <a:r>
              <a:t>My checklist is complete — let me show you.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30s</a:t>
            </a:r>
          </a:p>
          <a:p/>
          <a:p>
            <a:r>
              <a:t>Panel, good morning! I'm [YOUR NAME], and this is My Agency Game Plan for 2026.</a:t>
            </a:r>
          </a:p>
          <a:p/>
          <a:p>
            <a:r>
              <a:t>In the next 10 minutes: WHERE we're going (Vision/Mission), WHO I'm bringing (my recruits), HOW I'll find and activate them, and the WEEKLY DISCIPLINE that makes it happen.</a:t>
            </a:r>
          </a:p>
          <a:p/>
          <a:p>
            <a:r>
              <a:t>Let's begin with the destination. [click]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45s</a:t>
            </a:r>
          </a:p>
          <a:p/>
          <a:p>
            <a:r>
              <a:t>(Read the vision SLOWLY, with conviction — then pause 2 seconds.)</a:t>
            </a:r>
          </a:p>
          <a:p/>
          <a:p>
            <a:r>
              <a:t>'By 2030... innovation, quality, and people-centric culture.'</a:t>
            </a:r>
          </a:p>
          <a:p/>
          <a:p>
            <a:r>
              <a:t>(Pause.) Notice — this vision is not just about numbers. It's about becoming a team people ASPIRE TO JOIN and families TRUST WITH THEIR FUTURE. Every goal you'll see ladders up to this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45s</a:t>
            </a:r>
          </a:p>
          <a:p/>
          <a:p>
            <a:r>
              <a:t>(Read the mission.)</a:t>
            </a:r>
          </a:p>
          <a:p/>
          <a:p>
            <a:r>
              <a:t>Key words: DEVELOP and TRANSFORM. I'm not just recruiting producers — I'm building leaders. And we don't sell policies; we give families confidence and freedom. That's the WHY behind every activity in this plan.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60s — SLOW DOWN here. Panels decide if you're a leader on this slide.</a:t>
            </a:r>
          </a:p>
          <a:p/>
          <a:p>
            <a:r>
              <a:t>Our team runs on CARE:</a:t>
            </a:r>
          </a:p>
          <a:p>
            <a:r>
              <a:t>C — Client Obsessed: clients first, always.</a:t>
            </a:r>
          </a:p>
          <a:p>
            <a:r>
              <a:t>A — Accountability &amp; Integrity: we own our numbers — especially when no one is watching.</a:t>
            </a:r>
          </a:p>
          <a:p>
            <a:r>
              <a:t>R — Resilience &amp; Courage: we bounce back from every 'no' and show up braver the next day.</a:t>
            </a:r>
          </a:p>
          <a:p>
            <a:r>
              <a:t>E — Empowerment &amp; One Team: we grow leaders and win as one.</a:t>
            </a:r>
          </a:p>
          <a:p/>
          <a:p>
            <a:r>
              <a:t>These aren't wall decor — they're wired into my recruitment profile, activation plan, and calendar.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75s</a:t>
            </a:r>
          </a:p>
          <a:p/>
          <a:p>
            <a:r>
              <a:t>A vision without numbers is a wish. Three horizons:</a:t>
            </a:r>
          </a:p>
          <a:p/>
          <a:p>
            <a:r>
              <a:t>2030 NORTH STAR: 25+ productive advisors, 1,000+ families in Cebu &amp; Central Visayas, leaders now leading their own teams.</a:t>
            </a:r>
          </a:p>
          <a:p/>
          <a:p>
            <a:r>
              <a:t>12 MONTHS: 12 licensed recruits (1/month), 8 active producers by December, 120+ team cases, 100 new families. Personally: 2 cases/month — a leader leads from the field.</a:t>
            </a:r>
          </a:p>
          <a:p/>
          <a:p>
            <a:r>
              <a:t>90 DAYS: 100-name list, 30 conversations, 3 recruits contracted &amp; licensed, 6 personal cases.</a:t>
            </a:r>
          </a:p>
          <a:p/>
          <a:p>
            <a:r>
              <a:t>Reviewed every Friday, adjusted monthly, shared with my team leader — accountability built 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60s</a:t>
            </a:r>
          </a:p>
          <a:p/>
          <a:p>
            <a:r>
              <a:t>Who am I looking for? College grad, 23–45, 1–3 years in sales/service/teaching/BPO/banking/real estate.</a:t>
            </a:r>
          </a:p>
          <a:p/>
          <a:p>
            <a:r>
              <a:t>But what matters more than the résumé: entrepreneurial mindset, coachable, disciplined, self-motivated, based in Cebu/Central Visayas, licensed or willing to take the exam.</a:t>
            </a:r>
          </a:p>
          <a:p/>
          <a:p>
            <a:r>
              <a:t>Non-negotiable: the CARE fit checklist — client-hearted, accountable, resilient, team player.</a:t>
            </a:r>
          </a:p>
          <a:p/>
          <a:p>
            <a:r>
              <a:t>KEY LINE: 'Skills can be trained — character can't.'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45s</a:t>
            </a:r>
          </a:p>
          <a:p/>
          <a:p>
            <a:r>
              <a:t>Six sources: Warm market (first 50 names). Client &amp; COI referrals (2 names at EVERY client meeting). Social media (3 career posts/week). Community — church, alumni, barangay, business groups. Past career network — ex-colleagues who want more. AXA Discovery Day (2 guests per run, convert every attendee to a coffee chat).</a:t>
            </a:r>
          </a:p>
          <a:p/>
          <a:p>
            <a:r>
              <a:t>KEY LINE: 'No excuses — the market is everywhere.'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60s</a:t>
            </a:r>
          </a:p>
          <a:p/>
          <a:p>
            <a:r>
              <a:t>Sources become candidates through DAILY activity:</a:t>
            </a:r>
          </a:p>
          <a:p>
            <a:r>
              <a:t>- Setting recruitment appointments — 30 mins/day, Mon-Sat, 10/day (the backbone).</a:t>
            </a:r>
          </a:p>
          <a:p>
            <a:r>
              <a:t>- 5 coffee chat invitations a day.</a:t>
            </a:r>
          </a:p>
          <a:p>
            <a:r>
              <a:t>- 3 career posts/week = 15 quality leads/month.</a:t>
            </a:r>
          </a:p>
          <a:p>
            <a:r>
              <a:t>- 2 referral names per client meeting.</a:t>
            </a:r>
          </a:p>
          <a:p>
            <a:r>
              <a:t>- 2 Discovery Day guests per run.</a:t>
            </a:r>
          </a:p>
          <a:p>
            <a:r>
              <a:t>- Follow-up within 48 hours — 100%, no exceptions.</a:t>
            </a:r>
          </a:p>
          <a:p>
            <a:r>
              <a:t>- 1 career talk a month.</a:t>
            </a:r>
          </a:p>
          <a:p/>
          <a:p>
            <a:r>
              <a:t>KEY LINE: 'Small daily disciplines. Compounded weekly results.'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10s</a:t>
            </a:r>
          </a:p>
          <a:p/>
          <a:p>
            <a:r>
              <a:t>'Before I show you how I ACTIVATE these recruits — let's take a 15-minute break. When we come back: the part most teams skip, and where I plan to win.'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60s</a:t>
            </a:r>
          </a:p>
          <a:p/>
          <a:p>
            <a:r>
              <a:t>Recruiting is half the game — ACTIVATION is where teams are won.</a:t>
            </a:r>
          </a:p>
          <a:p/>
          <a:p>
            <a:r>
              <a:t>Week 1: 100-name list. First 60 days: 1 hour daily licensing support = licensed within 60 days. 2×/week joint field work — they watch me sell before they sell. 30-min weekly 1-on-1 coaching with scorecard.</a:t>
            </a:r>
          </a:p>
          <a:p/>
          <a:p>
            <a:r>
              <a:t>Milestone: FIRST CASE within 45 days of licensing — momentum changes careers.</a:t>
            </a:r>
          </a:p>
          <a:p/>
          <a:p>
            <a:r>
              <a:t>Tuesdays: team sales meeting (90% attendance). Monthly CARE check-in — target: 80% still active at Month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75s</a:t>
            </a:r>
          </a:p>
          <a:p/>
          <a:p>
            <a:r>
              <a:t>Discipline beats motivation — this calendar IS the plan.</a:t>
            </a:r>
          </a:p>
          <a:p/>
          <a:p>
            <a:r>
              <a:t>Weekdays: 8AM team huddle = 10 prospecting calls before 9. Mornings: clients &amp; recruit interviews. Afternoons: joint field work, referral asks, follow-ups. Daily: 30 min study + networking.</a:t>
            </a:r>
          </a:p>
          <a:p/>
          <a:p>
            <a:r>
              <a:t>Friday PM is sacred: recruit coaching, admin, WEEKLY REVIEW &amp; scorecard.</a:t>
            </a:r>
          </a:p>
          <a:p/>
          <a:p>
            <a:r>
              <a:t>Saturday: team training, Discovery Day (2×/month), personal clients PM.</a:t>
            </a:r>
          </a:p>
          <a:p/>
          <a:p>
            <a:r>
              <a:t>Sunday is PROTECTED: mass, family, rest + 30 min planning Sunday night. This is our 'people-centric culture' — starting with my own time and family.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15s</a:t>
            </a:r>
          </a:p>
          <a:p/>
          <a:p>
            <a:r>
              <a:t>Panel, thank you for your time and mentorship these past three days. Before I close — one last slide. [click]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45s — read slowly, from the heart.</a:t>
            </a:r>
          </a:p>
          <a:p/>
          <a:p>
            <a:r>
              <a:t>'I will work this plan with discipline and a servant's heart — leading with CARE in every client conversation, every recruit I develop, and every family I serve. I will review my numbers weekly, adjust monthly, and never lower the standard — only the deadline.'</a:t>
            </a:r>
          </a:p>
          <a:p/>
          <a:p>
            <a:r>
              <a:t>This is my Game Plan. This is my commitment. I'M READY TO BUILD.</a:t>
            </a:r>
          </a:p>
          <a:p/>
          <a:p>
            <a:r>
              <a:t>I'm happy to take your questions. (Smile.)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21207" y="274320"/>
            <a:ext cx="11155680" cy="292608"/>
          </a:xfrm>
          <a:prstGeom prst="rect">
            <a:avLst/>
          </a:prstGeom>
          <a:noFill/>
        </p:spPr>
        <p:txBody>
          <a:bodyPr wrap="square" lIns="0" rIns="0" tIns="0" bIns="0">
            <a:noAutofit/>
          </a:bodyPr>
          <a:lstStyle/>
          <a:p>
            <a:pPr algn="l"/>
            <a:r>
              <a:rPr sz="1300" b="1" i="0">
                <a:solidFill>
                  <a:srgbClr val="D6001C"/>
                </a:solidFill>
                <a:latin typeface="Arial"/>
              </a:rPr>
              <a:t>AGENCY BUILDER ONBOARDING PROGRAM</a:t>
            </a:r>
          </a:p>
        </p:txBody>
      </p:sp>
      <p:sp>
        <p:nvSpPr>
          <p:cNvPr id="3" name="TextBox 2"/>
          <p:cNvSpPr txBox="1"/>
          <p:nvPr/>
        </p:nvSpPr>
        <p:spPr>
          <a:xfrm>
            <a:off x="502920" y="548640"/>
            <a:ext cx="11155680" cy="585216"/>
          </a:xfrm>
          <a:prstGeom prst="rect">
            <a:avLst/>
          </a:prstGeom>
          <a:noFill/>
        </p:spPr>
        <p:txBody>
          <a:bodyPr wrap="square" lIns="0" rIns="0" tIns="0" bIns="0">
            <a:noAutofit/>
          </a:bodyPr>
          <a:lstStyle/>
          <a:p>
            <a:pPr algn="l"/>
            <a:r>
              <a:rPr sz="2900" b="1" i="0">
                <a:solidFill>
                  <a:srgbClr val="0A2A5E"/>
                </a:solidFill>
                <a:latin typeface="Arial"/>
              </a:rPr>
              <a:t>Business Plan Requirements</a:t>
            </a:r>
          </a:p>
        </p:txBody>
      </p:sp>
      <p:sp>
        <p:nvSpPr>
          <p:cNvPr id="4" name="Rectangle 3"/>
          <p:cNvSpPr/>
          <p:nvPr/>
        </p:nvSpPr>
        <p:spPr>
          <a:xfrm>
            <a:off x="521207" y="1188720"/>
            <a:ext cx="1371600" cy="50292"/>
          </a:xfrm>
          <a:prstGeom prst="rect">
            <a:avLst/>
          </a:prstGeom>
          <a:solidFill>
            <a:srgbClr val="D60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19672"/>
            <a:ext cx="5943600" cy="237744"/>
          </a:xfrm>
          <a:prstGeom prst="rect">
            <a:avLst/>
          </a:prstGeom>
          <a:noFill/>
        </p:spPr>
        <p:txBody>
          <a:bodyPr wrap="square" lIns="0" rIns="0" tIns="0" bIns="0">
            <a:noAutofit/>
          </a:bodyPr>
          <a:lstStyle/>
          <a:p>
            <a:pPr algn="l"/>
            <a:r>
              <a:rPr sz="900" b="0" i="0">
                <a:solidFill>
                  <a:srgbClr val="5A6270"/>
                </a:solidFill>
                <a:latin typeface="Arial"/>
              </a:rPr>
              <a:t>My Agency Game Plan — Presentation 2026</a:t>
            </a:r>
          </a:p>
        </p:txBody>
      </p:sp>
      <p:sp>
        <p:nvSpPr>
          <p:cNvPr id="6" name="TextBox 5"/>
          <p:cNvSpPr txBox="1"/>
          <p:nvPr/>
        </p:nvSpPr>
        <p:spPr>
          <a:xfrm>
            <a:off x="6400800" y="6519672"/>
            <a:ext cx="5285232" cy="237744"/>
          </a:xfrm>
          <a:prstGeom prst="rect">
            <a:avLst/>
          </a:prstGeom>
          <a:noFill/>
        </p:spPr>
        <p:txBody>
          <a:bodyPr wrap="square" lIns="0" rIns="0" tIns="0" bIns="0">
            <a:noAutofit/>
          </a:bodyPr>
          <a:lstStyle/>
          <a:p>
            <a:pPr algn="r"/>
            <a:r>
              <a:rPr sz="900" b="0" i="0">
                <a:solidFill>
                  <a:srgbClr val="5A6270"/>
                </a:solidFill>
                <a:latin typeface="Arial"/>
              </a:rPr>
              <a:t>Agency Builder Onboarding Program</a:t>
            </a:r>
          </a:p>
        </p:txBody>
      </p:sp>
      <p:sp>
        <p:nvSpPr>
          <p:cNvPr id="7" name="TextBox 6"/>
          <p:cNvSpPr txBox="1"/>
          <p:nvPr/>
        </p:nvSpPr>
        <p:spPr>
          <a:xfrm>
            <a:off x="502920" y="1389888"/>
            <a:ext cx="6903720" cy="5029200"/>
          </a:xfrm>
          <a:prstGeom prst="rect">
            <a:avLst/>
          </a:prstGeom>
          <a:noFill/>
        </p:spPr>
        <p:txBody>
          <a:bodyPr wrap="square" lIns="0" rIns="0" tIns="0" bIns="0">
            <a:noAutofit/>
          </a:bodyPr>
          <a:lstStyle/>
          <a:p>
            <a:pPr algn="l">
              <a:spcAft>
                <a:spcPts val="800"/>
              </a:spcAft>
            </a:pPr>
            <a:r>
              <a:rPr sz="1600" b="1" i="0">
                <a:solidFill>
                  <a:srgbClr val="0A2A5E"/>
                </a:solidFill>
                <a:latin typeface="Arial"/>
              </a:rPr>
              <a:t>Your Business Plan</a:t>
            </a:r>
          </a:p>
          <a:p>
            <a:pPr algn="l">
              <a:lnSpc>
                <a:spcPct val="108000"/>
              </a:lnSpc>
              <a:spcAft>
                <a:spcPts val="800"/>
              </a:spcAft>
            </a:pPr>
            <a:r>
              <a:rPr sz="1250" b="1" i="0">
                <a:solidFill>
                  <a:srgbClr val="D6001C"/>
                </a:solidFill>
                <a:latin typeface="Arial"/>
              </a:rPr>
              <a:t>•  </a:t>
            </a:r>
            <a:r>
              <a:rPr sz="1250" b="0" i="0">
                <a:solidFill>
                  <a:srgbClr val="21252B"/>
                </a:solidFill>
                <a:latin typeface="Arial"/>
              </a:rPr>
              <a:t>Fill out your Business Plan Template. (Instructions will be given during training)</a:t>
            </a:r>
          </a:p>
          <a:p>
            <a:pPr algn="l">
              <a:lnSpc>
                <a:spcPct val="108000"/>
              </a:lnSpc>
              <a:spcAft>
                <a:spcPts val="800"/>
              </a:spcAft>
            </a:pPr>
            <a:r>
              <a:rPr sz="1250" b="1" i="0">
                <a:solidFill>
                  <a:srgbClr val="D6001C"/>
                </a:solidFill>
                <a:latin typeface="Arial"/>
              </a:rPr>
              <a:t>•  </a:t>
            </a:r>
            <a:r>
              <a:rPr sz="1250" b="0" i="0">
                <a:solidFill>
                  <a:srgbClr val="21252B"/>
                </a:solidFill>
                <a:latin typeface="Arial"/>
              </a:rPr>
              <a:t>During the 3-day training program, you will strengthen and improve this plan using the tools, frameworks, and discussions from each session. Your final Business Plan will also be used as part of your Day 3 validation activity.</a:t>
            </a:r>
          </a:p>
          <a:p>
            <a:pPr algn="l">
              <a:lnSpc>
                <a:spcPct val="108000"/>
              </a:lnSpc>
              <a:spcAft>
                <a:spcPts val="300"/>
              </a:spcAft>
            </a:pPr>
            <a:r>
              <a:rPr sz="1250" b="1" i="0">
                <a:solidFill>
                  <a:srgbClr val="D6001C"/>
                </a:solidFill>
                <a:latin typeface="Arial"/>
              </a:rPr>
              <a:t>•  </a:t>
            </a:r>
            <a:r>
              <a:rPr sz="1250" b="0" i="0">
                <a:solidFill>
                  <a:srgbClr val="21252B"/>
                </a:solidFill>
                <a:latin typeface="Arial"/>
              </a:rPr>
              <a:t>The purpose of this activity is to help you:</a:t>
            </a:r>
          </a:p>
          <a:p>
            <a:pPr algn="l">
              <a:lnSpc>
                <a:spcPct val="105000"/>
              </a:lnSpc>
              <a:spcAft>
                <a:spcPts val="300"/>
              </a:spcAft>
            </a:pPr>
            <a:r>
              <a:rPr sz="1200" b="0" i="0">
                <a:solidFill>
                  <a:srgbClr val="5A6270"/>
                </a:solidFill>
                <a:latin typeface="Arial"/>
              </a:rPr>
              <a:t>      –  </a:t>
            </a:r>
            <a:r>
              <a:rPr sz="1200" b="0" i="0">
                <a:solidFill>
                  <a:srgbClr val="5A6270"/>
                </a:solidFill>
                <a:latin typeface="Arial"/>
              </a:rPr>
              <a:t>Clarify your goals as a new Unit Head</a:t>
            </a:r>
          </a:p>
          <a:p>
            <a:pPr algn="l">
              <a:lnSpc>
                <a:spcPct val="105000"/>
              </a:lnSpc>
              <a:spcAft>
                <a:spcPts val="300"/>
              </a:spcAft>
            </a:pPr>
            <a:r>
              <a:rPr sz="1200" b="0" i="0">
                <a:solidFill>
                  <a:srgbClr val="5A6270"/>
                </a:solidFill>
                <a:latin typeface="Arial"/>
              </a:rPr>
              <a:t>      –  </a:t>
            </a:r>
            <a:r>
              <a:rPr sz="1200" b="0" i="0">
                <a:solidFill>
                  <a:srgbClr val="5A6270"/>
                </a:solidFill>
                <a:latin typeface="Arial"/>
              </a:rPr>
              <a:t>Start thinking about your recruitment strategy</a:t>
            </a:r>
          </a:p>
          <a:p>
            <a:pPr algn="l">
              <a:lnSpc>
                <a:spcPct val="105000"/>
              </a:lnSpc>
              <a:spcAft>
                <a:spcPts val="300"/>
              </a:spcAft>
            </a:pPr>
            <a:r>
              <a:rPr sz="1200" b="0" i="0">
                <a:solidFill>
                  <a:srgbClr val="5A6270"/>
                </a:solidFill>
                <a:latin typeface="Arial"/>
              </a:rPr>
              <a:t>      –  </a:t>
            </a:r>
            <a:r>
              <a:rPr sz="1200" b="0" i="0">
                <a:solidFill>
                  <a:srgbClr val="5A6270"/>
                </a:solidFill>
                <a:latin typeface="Arial"/>
              </a:rPr>
              <a:t>Apply the learnings immediately during the program</a:t>
            </a:r>
          </a:p>
          <a:p>
            <a:pPr algn="l">
              <a:lnSpc>
                <a:spcPct val="105000"/>
              </a:lnSpc>
              <a:spcAft>
                <a:spcPts val="300"/>
              </a:spcAft>
            </a:pPr>
            <a:r>
              <a:rPr sz="1200" b="0" i="0">
                <a:solidFill>
                  <a:srgbClr val="5A6270"/>
                </a:solidFill>
                <a:latin typeface="Arial"/>
              </a:rPr>
              <a:t>      –  </a:t>
            </a:r>
            <a:r>
              <a:rPr sz="1200" b="0" i="0">
                <a:solidFill>
                  <a:srgbClr val="5A6270"/>
                </a:solidFill>
                <a:latin typeface="Arial"/>
              </a:rPr>
              <a:t>Build a practical plan that you can execute after training</a:t>
            </a:r>
          </a:p>
          <a:p>
            <a:pPr algn="l">
              <a:spcAft>
                <a:spcPts val="800"/>
              </a:spcAft>
            </a:pPr>
            <a:r>
              <a:rPr sz="600" b="0" i="0">
                <a:solidFill>
                  <a:srgbClr val="21252B"/>
                </a:solidFill>
                <a:latin typeface="Arial"/>
              </a:rPr>
              <a:t/>
            </a:r>
          </a:p>
          <a:p>
            <a:pPr algn="l">
              <a:lnSpc>
                <a:spcPct val="108000"/>
              </a:lnSpc>
              <a:spcAft>
                <a:spcPts val="1000"/>
              </a:spcAft>
            </a:pPr>
            <a:r>
              <a:rPr sz="1250" b="1" i="0">
                <a:solidFill>
                  <a:srgbClr val="D6001C"/>
                </a:solidFill>
                <a:latin typeface="Arial"/>
              </a:rPr>
              <a:t>•  </a:t>
            </a:r>
            <a:r>
              <a:rPr sz="1250" b="0" i="0">
                <a:solidFill>
                  <a:srgbClr val="21252B"/>
                </a:solidFill>
                <a:latin typeface="Arial"/>
              </a:rPr>
              <a:t>At the end of the program, you will present your enhanced Business Plan and explain how you will build and activate your team.</a:t>
            </a:r>
          </a:p>
          <a:p>
            <a:pPr algn="l">
              <a:spcAft>
                <a:spcPts val="400"/>
              </a:spcAft>
            </a:pPr>
            <a:r>
              <a:rPr sz="1300" b="1" i="0">
                <a:solidFill>
                  <a:srgbClr val="0A2A5E"/>
                </a:solidFill>
                <a:latin typeface="Arial"/>
              </a:rPr>
              <a:t>Note</a:t>
            </a:r>
          </a:p>
          <a:p>
            <a:pPr algn="l">
              <a:lnSpc>
                <a:spcPct val="105000"/>
              </a:lnSpc>
              <a:spcAft>
                <a:spcPts val="400"/>
              </a:spcAft>
            </a:pPr>
            <a:r>
              <a:rPr sz="1100" b="0" i="0">
                <a:solidFill>
                  <a:srgbClr val="5A6270"/>
                </a:solidFill>
                <a:latin typeface="Arial"/>
              </a:rPr>
              <a:t>–  </a:t>
            </a:r>
            <a:r>
              <a:rPr sz="1100" b="0" i="1">
                <a:solidFill>
                  <a:srgbClr val="5A6270"/>
                </a:solidFill>
                <a:latin typeface="Arial"/>
              </a:rPr>
              <a:t>Your Business Plan does not need to be perfect — it is a working document.</a:t>
            </a:r>
          </a:p>
          <a:p>
            <a:pPr algn="l">
              <a:lnSpc>
                <a:spcPct val="105000"/>
              </a:lnSpc>
              <a:spcAft>
                <a:spcPts val="400"/>
              </a:spcAft>
            </a:pPr>
            <a:r>
              <a:rPr sz="1100" b="0" i="0">
                <a:solidFill>
                  <a:srgbClr val="5A6270"/>
                </a:solidFill>
                <a:latin typeface="Arial"/>
              </a:rPr>
              <a:t>–  </a:t>
            </a:r>
            <a:r>
              <a:rPr sz="1100" b="0" i="1">
                <a:solidFill>
                  <a:srgbClr val="5A6270"/>
                </a:solidFill>
                <a:latin typeface="Arial"/>
              </a:rPr>
              <a:t>Think of this as your first draft. Throughout the program, you will refine and strengthen it using the tools, insights, and best practices from each session.</a:t>
            </a:r>
          </a:p>
          <a:p>
            <a:pPr algn="l">
              <a:lnSpc>
                <a:spcPct val="105000"/>
              </a:lnSpc>
              <a:spcAft>
                <a:spcPts val="400"/>
              </a:spcAft>
            </a:pPr>
            <a:r>
              <a:rPr sz="1100" b="0" i="0">
                <a:solidFill>
                  <a:srgbClr val="5A6270"/>
                </a:solidFill>
                <a:latin typeface="Arial"/>
              </a:rPr>
              <a:t>–  </a:t>
            </a:r>
            <a:r>
              <a:rPr sz="1100" b="0" i="1">
                <a:solidFill>
                  <a:srgbClr val="5A6270"/>
                </a:solidFill>
                <a:latin typeface="Arial"/>
              </a:rPr>
              <a:t>By Day 3, you will present your enhanced Business Plan at the Business Plan Showcase.</a:t>
            </a:r>
          </a:p>
        </p:txBody>
      </p:sp>
      <p:sp>
        <p:nvSpPr>
          <p:cNvPr id="8" name="Rounded Rectangle 7"/>
          <p:cNvSpPr/>
          <p:nvPr/>
        </p:nvSpPr>
        <p:spPr>
          <a:xfrm>
            <a:off x="7726679" y="1389888"/>
            <a:ext cx="3959352" cy="4956048"/>
          </a:xfrm>
          <a:prstGeom prst="roundRect">
            <a:avLst>
              <a:gd name="adj" fmla="val 4500"/>
            </a:avLst>
          </a:prstGeom>
          <a:solidFill>
            <a:srgbClr val="F2F4F8"/>
          </a:solidFill>
          <a:ln w="12700">
            <a:solidFill>
              <a:srgbClr val="0A2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0" y="1664208"/>
            <a:ext cx="3429000" cy="4480560"/>
          </a:xfrm>
          <a:prstGeom prst="rect">
            <a:avLst/>
          </a:prstGeom>
          <a:noFill/>
        </p:spPr>
        <p:txBody>
          <a:bodyPr wrap="square" lIns="0" rIns="0" tIns="0" bIns="0">
            <a:noAutofit/>
          </a:bodyPr>
          <a:lstStyle/>
          <a:p>
            <a:pPr algn="l">
              <a:spcAft>
                <a:spcPts val="600"/>
              </a:spcAft>
            </a:pPr>
            <a:r>
              <a:rPr sz="1600" b="1" i="0">
                <a:solidFill>
                  <a:srgbClr val="0A2A5E"/>
                </a:solidFill>
                <a:latin typeface="Arial"/>
              </a:rPr>
              <a:t>Your Checklist</a:t>
            </a:r>
          </a:p>
          <a:p>
            <a:pPr algn="l">
              <a:spcAft>
                <a:spcPts val="1000"/>
              </a:spcAft>
            </a:pPr>
            <a:r>
              <a:rPr sz="1200" b="0" i="0">
                <a:solidFill>
                  <a:srgbClr val="21252B"/>
                </a:solidFill>
                <a:latin typeface="Arial"/>
              </a:rPr>
              <a:t>I have:</a:t>
            </a:r>
          </a:p>
          <a:p>
            <a:pPr algn="l">
              <a:lnSpc>
                <a:spcPct val="100000"/>
              </a:lnSpc>
              <a:spcAft>
                <a:spcPts val="900"/>
              </a:spcAft>
            </a:pPr>
            <a:r>
              <a:rPr sz="1300" b="1" i="0">
                <a:solidFill>
                  <a:srgbClr val="0A2A5E"/>
                </a:solidFill>
                <a:latin typeface="Arial"/>
              </a:rPr>
              <a:t>☐  </a:t>
            </a:r>
            <a:r>
              <a:rPr sz="1250" b="0" i="0">
                <a:solidFill>
                  <a:srgbClr val="21252B"/>
                </a:solidFill>
                <a:latin typeface="Arial"/>
              </a:rPr>
              <a:t>Completed my Vision</a:t>
            </a:r>
          </a:p>
          <a:p>
            <a:pPr algn="l">
              <a:lnSpc>
                <a:spcPct val="100000"/>
              </a:lnSpc>
              <a:spcAft>
                <a:spcPts val="900"/>
              </a:spcAft>
            </a:pPr>
            <a:r>
              <a:rPr sz="1300" b="1" i="0">
                <a:solidFill>
                  <a:srgbClr val="0A2A5E"/>
                </a:solidFill>
                <a:latin typeface="Arial"/>
              </a:rPr>
              <a:t>☐  </a:t>
            </a:r>
            <a:r>
              <a:rPr sz="1250" b="0" i="0">
                <a:solidFill>
                  <a:srgbClr val="21252B"/>
                </a:solidFill>
                <a:latin typeface="Arial"/>
              </a:rPr>
              <a:t>Completed my Mission</a:t>
            </a:r>
          </a:p>
          <a:p>
            <a:pPr algn="l">
              <a:lnSpc>
                <a:spcPct val="100000"/>
              </a:lnSpc>
              <a:spcAft>
                <a:spcPts val="900"/>
              </a:spcAft>
            </a:pPr>
            <a:r>
              <a:rPr sz="1300" b="1" i="0">
                <a:solidFill>
                  <a:srgbClr val="0A2A5E"/>
                </a:solidFill>
                <a:latin typeface="Arial"/>
              </a:rPr>
              <a:t>☐  </a:t>
            </a:r>
            <a:r>
              <a:rPr sz="1250" b="0" i="0">
                <a:solidFill>
                  <a:srgbClr val="21252B"/>
                </a:solidFill>
                <a:latin typeface="Arial"/>
              </a:rPr>
              <a:t>Completed my Core Values</a:t>
            </a:r>
          </a:p>
          <a:p>
            <a:pPr algn="l">
              <a:lnSpc>
                <a:spcPct val="100000"/>
              </a:lnSpc>
              <a:spcAft>
                <a:spcPts val="900"/>
              </a:spcAft>
            </a:pPr>
            <a:r>
              <a:rPr sz="1300" b="1" i="0">
                <a:solidFill>
                  <a:srgbClr val="0A2A5E"/>
                </a:solidFill>
                <a:latin typeface="Arial"/>
              </a:rPr>
              <a:t>☐  </a:t>
            </a:r>
            <a:r>
              <a:rPr sz="1250" b="0" i="0">
                <a:solidFill>
                  <a:srgbClr val="21252B"/>
                </a:solidFill>
                <a:latin typeface="Arial"/>
              </a:rPr>
              <a:t>Completed my Goal Sheet</a:t>
            </a:r>
          </a:p>
          <a:p>
            <a:pPr algn="l">
              <a:lnSpc>
                <a:spcPct val="100000"/>
              </a:lnSpc>
              <a:spcAft>
                <a:spcPts val="900"/>
              </a:spcAft>
            </a:pPr>
            <a:r>
              <a:rPr sz="1300" b="1" i="0">
                <a:solidFill>
                  <a:srgbClr val="0A2A5E"/>
                </a:solidFill>
                <a:latin typeface="Arial"/>
              </a:rPr>
              <a:t>☐  </a:t>
            </a:r>
            <a:r>
              <a:rPr sz="1250" b="0" i="0">
                <a:solidFill>
                  <a:srgbClr val="21252B"/>
                </a:solidFill>
                <a:latin typeface="Arial"/>
              </a:rPr>
              <a:t>Completed my Recruitment Sources</a:t>
            </a:r>
          </a:p>
          <a:p>
            <a:pPr algn="l">
              <a:lnSpc>
                <a:spcPct val="100000"/>
              </a:lnSpc>
              <a:spcAft>
                <a:spcPts val="900"/>
              </a:spcAft>
            </a:pPr>
            <a:r>
              <a:rPr sz="1300" b="1" i="0">
                <a:solidFill>
                  <a:srgbClr val="0A2A5E"/>
                </a:solidFill>
                <a:latin typeface="Arial"/>
              </a:rPr>
              <a:t>☐  </a:t>
            </a:r>
            <a:r>
              <a:rPr sz="1250" b="0" i="0">
                <a:solidFill>
                  <a:srgbClr val="21252B"/>
                </a:solidFill>
                <a:latin typeface="Arial"/>
              </a:rPr>
              <a:t>Completed my Recruitment Activities</a:t>
            </a:r>
          </a:p>
          <a:p>
            <a:pPr algn="l">
              <a:lnSpc>
                <a:spcPct val="100000"/>
              </a:lnSpc>
              <a:spcAft>
                <a:spcPts val="900"/>
              </a:spcAft>
            </a:pPr>
            <a:r>
              <a:rPr sz="1300" b="1" i="0">
                <a:solidFill>
                  <a:srgbClr val="0A2A5E"/>
                </a:solidFill>
                <a:latin typeface="Arial"/>
              </a:rPr>
              <a:t>☐  </a:t>
            </a:r>
            <a:r>
              <a:rPr sz="1250" b="0" i="0">
                <a:solidFill>
                  <a:srgbClr val="21252B"/>
                </a:solidFill>
                <a:latin typeface="Arial"/>
              </a:rPr>
              <a:t>Reviewed my Business Plan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1E42"/>
        </a:solidFill>
        <a:effectLst/>
      </p:bgPr>
    </p:bg>
    <p:spTree>
      <p:nvGrpSpPr>
        <p:cNvPr id="1" name=""/>
        <p:cNvGrpSpPr/>
        <p:nvPr/>
      </p:nvGrpSpPr>
      <p:grpSpPr/>
      <p:sp>
        <p:nvSpPr>
          <p:cNvPr id="2" name="Rectangle 1"/>
          <p:cNvSpPr/>
          <p:nvPr/>
        </p:nvSpPr>
        <p:spPr>
          <a:xfrm>
            <a:off x="822960" y="1828800"/>
            <a:ext cx="1554480" cy="64008"/>
          </a:xfrm>
          <a:prstGeom prst="rect">
            <a:avLst/>
          </a:prstGeom>
          <a:solidFill>
            <a:srgbClr val="D60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95528" y="1993392"/>
            <a:ext cx="10515600" cy="1051560"/>
          </a:xfrm>
          <a:prstGeom prst="rect">
            <a:avLst/>
          </a:prstGeom>
          <a:noFill/>
        </p:spPr>
        <p:txBody>
          <a:bodyPr wrap="square" lIns="0" rIns="0" tIns="0" bIns="0">
            <a:noAutofit/>
          </a:bodyPr>
          <a:lstStyle/>
          <a:p>
            <a:pPr algn="l"/>
            <a:r>
              <a:rPr sz="5400" b="1" i="0">
                <a:solidFill>
                  <a:srgbClr val="FFFFFF"/>
                </a:solidFill>
                <a:latin typeface="Arial"/>
              </a:rPr>
              <a:t>My Agency</a:t>
            </a:r>
          </a:p>
        </p:txBody>
      </p:sp>
      <p:sp>
        <p:nvSpPr>
          <p:cNvPr id="4" name="TextBox 3"/>
          <p:cNvSpPr txBox="1"/>
          <p:nvPr/>
        </p:nvSpPr>
        <p:spPr>
          <a:xfrm>
            <a:off x="795528" y="2999232"/>
            <a:ext cx="10515600" cy="1051560"/>
          </a:xfrm>
          <a:prstGeom prst="rect">
            <a:avLst/>
          </a:prstGeom>
          <a:noFill/>
        </p:spPr>
        <p:txBody>
          <a:bodyPr wrap="square" lIns="0" rIns="0" tIns="0" bIns="0">
            <a:noAutofit/>
          </a:bodyPr>
          <a:lstStyle/>
          <a:p>
            <a:pPr algn="l"/>
            <a:r>
              <a:rPr sz="5400" b="1" i="0">
                <a:solidFill>
                  <a:srgbClr val="FFFFFF"/>
                </a:solidFill>
                <a:latin typeface="Arial"/>
              </a:rPr>
              <a:t>Game Plan</a:t>
            </a:r>
          </a:p>
        </p:txBody>
      </p:sp>
      <p:sp>
        <p:nvSpPr>
          <p:cNvPr id="5" name="TextBox 4"/>
          <p:cNvSpPr txBox="1"/>
          <p:nvPr/>
        </p:nvSpPr>
        <p:spPr>
          <a:xfrm>
            <a:off x="822960" y="4224528"/>
            <a:ext cx="8229600" cy="411480"/>
          </a:xfrm>
          <a:prstGeom prst="rect">
            <a:avLst/>
          </a:prstGeom>
          <a:noFill/>
        </p:spPr>
        <p:txBody>
          <a:bodyPr wrap="square" lIns="0" rIns="0" tIns="0" bIns="0">
            <a:noAutofit/>
          </a:bodyPr>
          <a:lstStyle/>
          <a:p>
            <a:pPr algn="l"/>
            <a:r>
              <a:rPr sz="1500" b="1" i="0">
                <a:solidFill>
                  <a:srgbClr val="B9C4D6"/>
                </a:solidFill>
                <a:latin typeface="Arial"/>
              </a:rPr>
              <a:t>PRESENTATION 2026</a:t>
            </a:r>
          </a:p>
        </p:txBody>
      </p:sp>
      <p:sp>
        <p:nvSpPr>
          <p:cNvPr id="6" name="TextBox 5"/>
          <p:cNvSpPr txBox="1"/>
          <p:nvPr/>
        </p:nvSpPr>
        <p:spPr>
          <a:xfrm>
            <a:off x="822960" y="5961888"/>
            <a:ext cx="9144000" cy="365760"/>
          </a:xfrm>
          <a:prstGeom prst="rect">
            <a:avLst/>
          </a:prstGeom>
          <a:noFill/>
        </p:spPr>
        <p:txBody>
          <a:bodyPr wrap="square" lIns="0" rIns="0" tIns="0" bIns="0">
            <a:noAutofit/>
          </a:bodyPr>
          <a:lstStyle/>
          <a:p>
            <a:pPr algn="l"/>
            <a:r>
              <a:rPr sz="1300" b="0" i="0">
                <a:solidFill>
                  <a:srgbClr val="B9C4D6"/>
                </a:solidFill>
                <a:latin typeface="Arial"/>
              </a:rPr>
              <a:t>Prepared by:  [Your Name]   •   Agency Builder, Unit Head Candidate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2A5E"/>
        </a:solidFill>
        <a:effectLst/>
      </p:bgPr>
    </p:bg>
    <p:spTree>
      <p:nvGrpSpPr>
        <p:cNvPr id="1" name=""/>
        <p:cNvGrpSpPr/>
        <p:nvPr/>
      </p:nvGrpSpPr>
      <p:grpSpPr/>
      <p:sp>
        <p:nvSpPr>
          <p:cNvPr id="2" name="Rectangle 1"/>
          <p:cNvSpPr/>
          <p:nvPr/>
        </p:nvSpPr>
        <p:spPr>
          <a:xfrm>
            <a:off x="822960" y="1188720"/>
            <a:ext cx="1280160" cy="64008"/>
          </a:xfrm>
          <a:prstGeom prst="rect">
            <a:avLst/>
          </a:prstGeom>
          <a:solidFill>
            <a:srgbClr val="D60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4672" y="1353312"/>
            <a:ext cx="4572000" cy="457200"/>
          </a:xfrm>
          <a:prstGeom prst="rect">
            <a:avLst/>
          </a:prstGeom>
          <a:noFill/>
        </p:spPr>
        <p:txBody>
          <a:bodyPr wrap="square" lIns="0" rIns="0" tIns="0" bIns="0">
            <a:noAutofit/>
          </a:bodyPr>
          <a:lstStyle/>
          <a:p>
            <a:pPr algn="l"/>
            <a:r>
              <a:rPr sz="1700" b="1" i="0">
                <a:solidFill>
                  <a:srgbClr val="FFFFFF"/>
                </a:solidFill>
                <a:latin typeface="Arial"/>
              </a:rPr>
              <a:t>VISION</a:t>
            </a:r>
          </a:p>
        </p:txBody>
      </p:sp>
      <p:sp>
        <p:nvSpPr>
          <p:cNvPr id="4" name="TextBox 3"/>
          <p:cNvSpPr txBox="1"/>
          <p:nvPr/>
        </p:nvSpPr>
        <p:spPr>
          <a:xfrm>
            <a:off x="804672" y="2011680"/>
            <a:ext cx="10424160" cy="3383280"/>
          </a:xfrm>
          <a:prstGeom prst="rect">
            <a:avLst/>
          </a:prstGeom>
          <a:noFill/>
        </p:spPr>
        <p:txBody>
          <a:bodyPr wrap="square" lIns="0" rIns="0" tIns="0" bIns="0">
            <a:noAutofit/>
          </a:bodyPr>
          <a:lstStyle/>
          <a:p>
            <a:pPr algn="l">
              <a:lnSpc>
                <a:spcPct val="118000"/>
              </a:lnSpc>
            </a:pPr>
            <a:r>
              <a:rPr sz="3000" b="1" i="0">
                <a:solidFill>
                  <a:srgbClr val="FFFFFF"/>
                </a:solidFill>
                <a:latin typeface="Arial"/>
              </a:rPr>
              <a:t>By 2030, we will have achieved sustainable growth and client success at scale — becoming the most distinctive and admired team in our industry for our innovation, quality, and people-centric culture.</a:t>
            </a:r>
          </a:p>
        </p:txBody>
      </p:sp>
      <p:sp>
        <p:nvSpPr>
          <p:cNvPr id="5" name="TextBox 4"/>
          <p:cNvSpPr txBox="1"/>
          <p:nvPr/>
        </p:nvSpPr>
        <p:spPr>
          <a:xfrm>
            <a:off x="822960" y="5989320"/>
            <a:ext cx="10058400" cy="365760"/>
          </a:xfrm>
          <a:prstGeom prst="rect">
            <a:avLst/>
          </a:prstGeom>
          <a:noFill/>
        </p:spPr>
        <p:txBody>
          <a:bodyPr wrap="square" lIns="0" rIns="0" tIns="0" bIns="0">
            <a:noAutofit/>
          </a:bodyPr>
          <a:lstStyle/>
          <a:p>
            <a:pPr algn="l"/>
            <a:r>
              <a:rPr sz="1200" b="0" i="1">
                <a:solidFill>
                  <a:srgbClr val="B9C4D6"/>
                </a:solidFill>
                <a:latin typeface="Arial"/>
              </a:rPr>
              <a:t>Our North Star — every goal in this plan ladders up to this vision.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2A5E"/>
        </a:solidFill>
        <a:effectLst/>
      </p:bgPr>
    </p:bg>
    <p:spTree>
      <p:nvGrpSpPr>
        <p:cNvPr id="1" name=""/>
        <p:cNvGrpSpPr/>
        <p:nvPr/>
      </p:nvGrpSpPr>
      <p:grpSpPr/>
      <p:sp>
        <p:nvSpPr>
          <p:cNvPr id="2" name="Rectangle 1"/>
          <p:cNvSpPr/>
          <p:nvPr/>
        </p:nvSpPr>
        <p:spPr>
          <a:xfrm>
            <a:off x="822960" y="1188720"/>
            <a:ext cx="1280160" cy="64008"/>
          </a:xfrm>
          <a:prstGeom prst="rect">
            <a:avLst/>
          </a:prstGeom>
          <a:solidFill>
            <a:srgbClr val="D60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4672" y="1353312"/>
            <a:ext cx="4572000" cy="457200"/>
          </a:xfrm>
          <a:prstGeom prst="rect">
            <a:avLst/>
          </a:prstGeom>
          <a:noFill/>
        </p:spPr>
        <p:txBody>
          <a:bodyPr wrap="square" lIns="0" rIns="0" tIns="0" bIns="0">
            <a:noAutofit/>
          </a:bodyPr>
          <a:lstStyle/>
          <a:p>
            <a:pPr algn="l"/>
            <a:r>
              <a:rPr sz="1700" b="1" i="0">
                <a:solidFill>
                  <a:srgbClr val="FFFFFF"/>
                </a:solidFill>
                <a:latin typeface="Arial"/>
              </a:rPr>
              <a:t>MISSION</a:t>
            </a:r>
          </a:p>
        </p:txBody>
      </p:sp>
      <p:sp>
        <p:nvSpPr>
          <p:cNvPr id="4" name="TextBox 3"/>
          <p:cNvSpPr txBox="1"/>
          <p:nvPr/>
        </p:nvSpPr>
        <p:spPr>
          <a:xfrm>
            <a:off x="804672" y="2011680"/>
            <a:ext cx="10424160" cy="3383280"/>
          </a:xfrm>
          <a:prstGeom prst="rect">
            <a:avLst/>
          </a:prstGeom>
          <a:noFill/>
        </p:spPr>
        <p:txBody>
          <a:bodyPr wrap="square" lIns="0" rIns="0" tIns="0" bIns="0">
            <a:noAutofit/>
          </a:bodyPr>
          <a:lstStyle/>
          <a:p>
            <a:pPr algn="l">
              <a:lnSpc>
                <a:spcPct val="118000"/>
              </a:lnSpc>
            </a:pPr>
            <a:r>
              <a:rPr sz="3000" b="1" i="0">
                <a:solidFill>
                  <a:srgbClr val="FFFFFF"/>
                </a:solidFill>
                <a:latin typeface="Arial"/>
              </a:rPr>
              <a:t>We exist to develop successful financial advisors and future leaders who transform lives. We add value by empowering families to live with confidence, purpose, and financial freedom — through proactive and disciplined financial planning.</a:t>
            </a:r>
          </a:p>
        </p:txBody>
      </p:sp>
      <p:sp>
        <p:nvSpPr>
          <p:cNvPr id="5" name="TextBox 4"/>
          <p:cNvSpPr txBox="1"/>
          <p:nvPr/>
        </p:nvSpPr>
        <p:spPr>
          <a:xfrm>
            <a:off x="822960" y="5989320"/>
            <a:ext cx="10058400" cy="365760"/>
          </a:xfrm>
          <a:prstGeom prst="rect">
            <a:avLst/>
          </a:prstGeom>
          <a:noFill/>
        </p:spPr>
        <p:txBody>
          <a:bodyPr wrap="square" lIns="0" rIns="0" tIns="0" bIns="0">
            <a:noAutofit/>
          </a:bodyPr>
          <a:lstStyle/>
          <a:p>
            <a:pPr algn="l"/>
            <a:r>
              <a:rPr sz="1200" b="0" i="1">
                <a:solidFill>
                  <a:srgbClr val="B9C4D6"/>
                </a:solidFill>
                <a:latin typeface="Arial"/>
              </a:rPr>
              <a:t>Every activity in this Game Plan exists to deliver this Mission.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21207" y="274320"/>
            <a:ext cx="11155680" cy="292608"/>
          </a:xfrm>
          <a:prstGeom prst="rect">
            <a:avLst/>
          </a:prstGeom>
          <a:noFill/>
        </p:spPr>
        <p:txBody>
          <a:bodyPr wrap="square" lIns="0" rIns="0" tIns="0" bIns="0">
            <a:noAutofit/>
          </a:bodyPr>
          <a:lstStyle/>
          <a:p>
            <a:pPr algn="l"/>
            <a:r>
              <a:rPr sz="1300" b="1" i="0">
                <a:solidFill>
                  <a:srgbClr val="D6001C"/>
                </a:solidFill>
                <a:latin typeface="Arial"/>
              </a:rPr>
              <a:t>THE WAY WE WORK</a:t>
            </a:r>
          </a:p>
        </p:txBody>
      </p:sp>
      <p:sp>
        <p:nvSpPr>
          <p:cNvPr id="3" name="TextBox 2"/>
          <p:cNvSpPr txBox="1"/>
          <p:nvPr/>
        </p:nvSpPr>
        <p:spPr>
          <a:xfrm>
            <a:off x="502920" y="548640"/>
            <a:ext cx="11155680" cy="585216"/>
          </a:xfrm>
          <a:prstGeom prst="rect">
            <a:avLst/>
          </a:prstGeom>
          <a:noFill/>
        </p:spPr>
        <p:txBody>
          <a:bodyPr wrap="square" lIns="0" rIns="0" tIns="0" bIns="0">
            <a:noAutofit/>
          </a:bodyPr>
          <a:lstStyle/>
          <a:p>
            <a:pPr algn="l"/>
            <a:r>
              <a:rPr sz="2900" b="1" i="0">
                <a:solidFill>
                  <a:srgbClr val="0A2A5E"/>
                </a:solidFill>
                <a:latin typeface="Arial"/>
              </a:rPr>
              <a:t>CORE VALUES</a:t>
            </a:r>
          </a:p>
        </p:txBody>
      </p:sp>
      <p:sp>
        <p:nvSpPr>
          <p:cNvPr id="4" name="Rectangle 3"/>
          <p:cNvSpPr/>
          <p:nvPr/>
        </p:nvSpPr>
        <p:spPr>
          <a:xfrm>
            <a:off x="521207" y="1188720"/>
            <a:ext cx="1371600" cy="50292"/>
          </a:xfrm>
          <a:prstGeom prst="rect">
            <a:avLst/>
          </a:prstGeom>
          <a:solidFill>
            <a:srgbClr val="D60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19672"/>
            <a:ext cx="5943600" cy="237744"/>
          </a:xfrm>
          <a:prstGeom prst="rect">
            <a:avLst/>
          </a:prstGeom>
          <a:noFill/>
        </p:spPr>
        <p:txBody>
          <a:bodyPr wrap="square" lIns="0" rIns="0" tIns="0" bIns="0">
            <a:noAutofit/>
          </a:bodyPr>
          <a:lstStyle/>
          <a:p>
            <a:pPr algn="l"/>
            <a:r>
              <a:rPr sz="900" b="0" i="0">
                <a:solidFill>
                  <a:srgbClr val="5A6270"/>
                </a:solidFill>
                <a:latin typeface="Arial"/>
              </a:rPr>
              <a:t>My Agency Game Plan — Presentation 2026</a:t>
            </a:r>
          </a:p>
        </p:txBody>
      </p:sp>
      <p:sp>
        <p:nvSpPr>
          <p:cNvPr id="6" name="TextBox 5"/>
          <p:cNvSpPr txBox="1"/>
          <p:nvPr/>
        </p:nvSpPr>
        <p:spPr>
          <a:xfrm>
            <a:off x="6400800" y="6519672"/>
            <a:ext cx="5285232" cy="237744"/>
          </a:xfrm>
          <a:prstGeom prst="rect">
            <a:avLst/>
          </a:prstGeom>
          <a:noFill/>
        </p:spPr>
        <p:txBody>
          <a:bodyPr wrap="square" lIns="0" rIns="0" tIns="0" bIns="0">
            <a:noAutofit/>
          </a:bodyPr>
          <a:lstStyle/>
          <a:p>
            <a:pPr algn="r"/>
            <a:r>
              <a:rPr sz="900" b="0" i="0">
                <a:solidFill>
                  <a:srgbClr val="5A6270"/>
                </a:solidFill>
                <a:latin typeface="Arial"/>
              </a:rPr>
              <a:t>Agency Builder Onboarding Program</a:t>
            </a:r>
          </a:p>
        </p:txBody>
      </p:sp>
      <p:sp>
        <p:nvSpPr>
          <p:cNvPr id="7" name="TextBox 6"/>
          <p:cNvSpPr txBox="1"/>
          <p:nvPr/>
        </p:nvSpPr>
        <p:spPr>
          <a:xfrm>
            <a:off x="548640" y="1481328"/>
            <a:ext cx="914400" cy="960120"/>
          </a:xfrm>
          <a:prstGeom prst="rect">
            <a:avLst/>
          </a:prstGeom>
          <a:noFill/>
        </p:spPr>
        <p:txBody>
          <a:bodyPr wrap="square" lIns="0" rIns="0" tIns="0" bIns="0">
            <a:noAutofit/>
          </a:bodyPr>
          <a:lstStyle/>
          <a:p>
            <a:pPr algn="ctr"/>
            <a:r>
              <a:rPr sz="4600" b="1" i="0">
                <a:solidFill>
                  <a:srgbClr val="D6001C"/>
                </a:solidFill>
                <a:latin typeface="Arial"/>
              </a:rPr>
              <a:t>C</a:t>
            </a:r>
          </a:p>
        </p:txBody>
      </p:sp>
      <p:sp>
        <p:nvSpPr>
          <p:cNvPr id="8" name="TextBox 7"/>
          <p:cNvSpPr txBox="1"/>
          <p:nvPr/>
        </p:nvSpPr>
        <p:spPr>
          <a:xfrm>
            <a:off x="1645920" y="1572768"/>
            <a:ext cx="5943600" cy="457200"/>
          </a:xfrm>
          <a:prstGeom prst="rect">
            <a:avLst/>
          </a:prstGeom>
          <a:noFill/>
        </p:spPr>
        <p:txBody>
          <a:bodyPr wrap="square" lIns="0" rIns="0" tIns="0" bIns="0">
            <a:noAutofit/>
          </a:bodyPr>
          <a:lstStyle/>
          <a:p>
            <a:pPr algn="l"/>
            <a:r>
              <a:rPr sz="2100" b="1" i="0">
                <a:solidFill>
                  <a:srgbClr val="0A2A5E"/>
                </a:solidFill>
                <a:latin typeface="Arial"/>
              </a:rPr>
              <a:t>Client Obsessed</a:t>
            </a:r>
          </a:p>
        </p:txBody>
      </p:sp>
      <p:sp>
        <p:nvSpPr>
          <p:cNvPr id="9" name="TextBox 8"/>
          <p:cNvSpPr txBox="1"/>
          <p:nvPr/>
        </p:nvSpPr>
        <p:spPr>
          <a:xfrm>
            <a:off x="1645920" y="1993392"/>
            <a:ext cx="9692640" cy="411480"/>
          </a:xfrm>
          <a:prstGeom prst="rect">
            <a:avLst/>
          </a:prstGeom>
          <a:noFill/>
        </p:spPr>
        <p:txBody>
          <a:bodyPr wrap="square" lIns="0" rIns="0" tIns="0" bIns="0">
            <a:noAutofit/>
          </a:bodyPr>
          <a:lstStyle/>
          <a:p>
            <a:pPr algn="l"/>
            <a:r>
              <a:rPr sz="1250" b="0" i="0">
                <a:solidFill>
                  <a:srgbClr val="5A6270"/>
                </a:solidFill>
                <a:latin typeface="Arial"/>
              </a:rPr>
              <a:t>Clients first, always — we listen, advise, and deliver on our promises.</a:t>
            </a:r>
          </a:p>
        </p:txBody>
      </p:sp>
      <p:sp>
        <p:nvSpPr>
          <p:cNvPr id="10" name="Rectangle 9"/>
          <p:cNvSpPr/>
          <p:nvPr/>
        </p:nvSpPr>
        <p:spPr>
          <a:xfrm>
            <a:off x="1645920" y="2514600"/>
            <a:ext cx="9784080" cy="12801"/>
          </a:xfrm>
          <a:prstGeom prst="rect">
            <a:avLst/>
          </a:prstGeom>
          <a:solidFill>
            <a:srgbClr val="D8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706624"/>
            <a:ext cx="914400" cy="960120"/>
          </a:xfrm>
          <a:prstGeom prst="rect">
            <a:avLst/>
          </a:prstGeom>
          <a:noFill/>
        </p:spPr>
        <p:txBody>
          <a:bodyPr wrap="square" lIns="0" rIns="0" tIns="0" bIns="0">
            <a:noAutofit/>
          </a:bodyPr>
          <a:lstStyle/>
          <a:p>
            <a:pPr algn="ctr"/>
            <a:r>
              <a:rPr sz="4600" b="1" i="0">
                <a:solidFill>
                  <a:srgbClr val="D6001C"/>
                </a:solidFill>
                <a:latin typeface="Arial"/>
              </a:rPr>
              <a:t>A</a:t>
            </a:r>
          </a:p>
        </p:txBody>
      </p:sp>
      <p:sp>
        <p:nvSpPr>
          <p:cNvPr id="12" name="TextBox 11"/>
          <p:cNvSpPr txBox="1"/>
          <p:nvPr/>
        </p:nvSpPr>
        <p:spPr>
          <a:xfrm>
            <a:off x="1645920" y="2798064"/>
            <a:ext cx="5943600" cy="457200"/>
          </a:xfrm>
          <a:prstGeom prst="rect">
            <a:avLst/>
          </a:prstGeom>
          <a:noFill/>
        </p:spPr>
        <p:txBody>
          <a:bodyPr wrap="square" lIns="0" rIns="0" tIns="0" bIns="0">
            <a:noAutofit/>
          </a:bodyPr>
          <a:lstStyle/>
          <a:p>
            <a:pPr algn="l"/>
            <a:r>
              <a:rPr sz="2100" b="1" i="0">
                <a:solidFill>
                  <a:srgbClr val="0A2A5E"/>
                </a:solidFill>
                <a:latin typeface="Arial"/>
              </a:rPr>
              <a:t>Accountability and Integrity</a:t>
            </a:r>
          </a:p>
        </p:txBody>
      </p:sp>
      <p:sp>
        <p:nvSpPr>
          <p:cNvPr id="13" name="TextBox 12"/>
          <p:cNvSpPr txBox="1"/>
          <p:nvPr/>
        </p:nvSpPr>
        <p:spPr>
          <a:xfrm>
            <a:off x="1645920" y="3218688"/>
            <a:ext cx="9692640" cy="411480"/>
          </a:xfrm>
          <a:prstGeom prst="rect">
            <a:avLst/>
          </a:prstGeom>
          <a:noFill/>
        </p:spPr>
        <p:txBody>
          <a:bodyPr wrap="square" lIns="0" rIns="0" tIns="0" bIns="0">
            <a:noAutofit/>
          </a:bodyPr>
          <a:lstStyle/>
          <a:p>
            <a:pPr algn="l"/>
            <a:r>
              <a:rPr sz="1250" b="0" i="0">
                <a:solidFill>
                  <a:srgbClr val="5A6270"/>
                </a:solidFill>
                <a:latin typeface="Arial"/>
              </a:rPr>
              <a:t>We own our numbers, keep our word, and do the right thing even when no one is watching.</a:t>
            </a:r>
          </a:p>
        </p:txBody>
      </p:sp>
      <p:sp>
        <p:nvSpPr>
          <p:cNvPr id="14" name="Rectangle 13"/>
          <p:cNvSpPr/>
          <p:nvPr/>
        </p:nvSpPr>
        <p:spPr>
          <a:xfrm>
            <a:off x="1645920" y="3739896"/>
            <a:ext cx="9784080" cy="12801"/>
          </a:xfrm>
          <a:prstGeom prst="rect">
            <a:avLst/>
          </a:prstGeom>
          <a:solidFill>
            <a:srgbClr val="D8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931920"/>
            <a:ext cx="914400" cy="960120"/>
          </a:xfrm>
          <a:prstGeom prst="rect">
            <a:avLst/>
          </a:prstGeom>
          <a:noFill/>
        </p:spPr>
        <p:txBody>
          <a:bodyPr wrap="square" lIns="0" rIns="0" tIns="0" bIns="0">
            <a:noAutofit/>
          </a:bodyPr>
          <a:lstStyle/>
          <a:p>
            <a:pPr algn="ctr"/>
            <a:r>
              <a:rPr sz="4600" b="1" i="0">
                <a:solidFill>
                  <a:srgbClr val="D6001C"/>
                </a:solidFill>
                <a:latin typeface="Arial"/>
              </a:rPr>
              <a:t>R</a:t>
            </a:r>
          </a:p>
        </p:txBody>
      </p:sp>
      <p:sp>
        <p:nvSpPr>
          <p:cNvPr id="16" name="TextBox 15"/>
          <p:cNvSpPr txBox="1"/>
          <p:nvPr/>
        </p:nvSpPr>
        <p:spPr>
          <a:xfrm>
            <a:off x="1645920" y="4023359"/>
            <a:ext cx="5943600" cy="457200"/>
          </a:xfrm>
          <a:prstGeom prst="rect">
            <a:avLst/>
          </a:prstGeom>
          <a:noFill/>
        </p:spPr>
        <p:txBody>
          <a:bodyPr wrap="square" lIns="0" rIns="0" tIns="0" bIns="0">
            <a:noAutofit/>
          </a:bodyPr>
          <a:lstStyle/>
          <a:p>
            <a:pPr algn="l"/>
            <a:r>
              <a:rPr sz="2100" b="1" i="0">
                <a:solidFill>
                  <a:srgbClr val="0A2A5E"/>
                </a:solidFill>
                <a:latin typeface="Arial"/>
              </a:rPr>
              <a:t>Resilience and Courage</a:t>
            </a:r>
          </a:p>
        </p:txBody>
      </p:sp>
      <p:sp>
        <p:nvSpPr>
          <p:cNvPr id="17" name="TextBox 16"/>
          <p:cNvSpPr txBox="1"/>
          <p:nvPr/>
        </p:nvSpPr>
        <p:spPr>
          <a:xfrm>
            <a:off x="1645920" y="4443983"/>
            <a:ext cx="9692640" cy="411480"/>
          </a:xfrm>
          <a:prstGeom prst="rect">
            <a:avLst/>
          </a:prstGeom>
          <a:noFill/>
        </p:spPr>
        <p:txBody>
          <a:bodyPr wrap="square" lIns="0" rIns="0" tIns="0" bIns="0">
            <a:noAutofit/>
          </a:bodyPr>
          <a:lstStyle/>
          <a:p>
            <a:pPr algn="l"/>
            <a:r>
              <a:rPr sz="1250" b="0" i="0">
                <a:solidFill>
                  <a:srgbClr val="5A6270"/>
                </a:solidFill>
                <a:latin typeface="Arial"/>
              </a:rPr>
              <a:t>We bounce back from every ‘no’ and show up braver the next day.</a:t>
            </a:r>
          </a:p>
        </p:txBody>
      </p:sp>
      <p:sp>
        <p:nvSpPr>
          <p:cNvPr id="18" name="Rectangle 17"/>
          <p:cNvSpPr/>
          <p:nvPr/>
        </p:nvSpPr>
        <p:spPr>
          <a:xfrm>
            <a:off x="1645920" y="4965192"/>
            <a:ext cx="9784080" cy="12801"/>
          </a:xfrm>
          <a:prstGeom prst="rect">
            <a:avLst/>
          </a:prstGeom>
          <a:solidFill>
            <a:srgbClr val="D8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5157216"/>
            <a:ext cx="914400" cy="960120"/>
          </a:xfrm>
          <a:prstGeom prst="rect">
            <a:avLst/>
          </a:prstGeom>
          <a:noFill/>
        </p:spPr>
        <p:txBody>
          <a:bodyPr wrap="square" lIns="0" rIns="0" tIns="0" bIns="0">
            <a:noAutofit/>
          </a:bodyPr>
          <a:lstStyle/>
          <a:p>
            <a:pPr algn="ctr"/>
            <a:r>
              <a:rPr sz="4600" b="1" i="0">
                <a:solidFill>
                  <a:srgbClr val="D6001C"/>
                </a:solidFill>
                <a:latin typeface="Arial"/>
              </a:rPr>
              <a:t>E</a:t>
            </a:r>
          </a:p>
        </p:txBody>
      </p:sp>
      <p:sp>
        <p:nvSpPr>
          <p:cNvPr id="20" name="TextBox 19"/>
          <p:cNvSpPr txBox="1"/>
          <p:nvPr/>
        </p:nvSpPr>
        <p:spPr>
          <a:xfrm>
            <a:off x="1645920" y="5248655"/>
            <a:ext cx="5943600" cy="457200"/>
          </a:xfrm>
          <a:prstGeom prst="rect">
            <a:avLst/>
          </a:prstGeom>
          <a:noFill/>
        </p:spPr>
        <p:txBody>
          <a:bodyPr wrap="square" lIns="0" rIns="0" tIns="0" bIns="0">
            <a:noAutofit/>
          </a:bodyPr>
          <a:lstStyle/>
          <a:p>
            <a:pPr algn="l"/>
            <a:r>
              <a:rPr sz="2100" b="1" i="0">
                <a:solidFill>
                  <a:srgbClr val="0A2A5E"/>
                </a:solidFill>
                <a:latin typeface="Arial"/>
              </a:rPr>
              <a:t>Empowerment and One Team</a:t>
            </a:r>
          </a:p>
        </p:txBody>
      </p:sp>
      <p:sp>
        <p:nvSpPr>
          <p:cNvPr id="21" name="TextBox 20"/>
          <p:cNvSpPr txBox="1"/>
          <p:nvPr/>
        </p:nvSpPr>
        <p:spPr>
          <a:xfrm>
            <a:off x="1645920" y="5669279"/>
            <a:ext cx="9692640" cy="411480"/>
          </a:xfrm>
          <a:prstGeom prst="rect">
            <a:avLst/>
          </a:prstGeom>
          <a:noFill/>
        </p:spPr>
        <p:txBody>
          <a:bodyPr wrap="square" lIns="0" rIns="0" tIns="0" bIns="0">
            <a:noAutofit/>
          </a:bodyPr>
          <a:lstStyle/>
          <a:p>
            <a:pPr algn="l"/>
            <a:r>
              <a:rPr sz="1250" b="0" i="0">
                <a:solidFill>
                  <a:srgbClr val="5A6270"/>
                </a:solidFill>
                <a:latin typeface="Arial"/>
              </a:rPr>
              <a:t>We grow leaders, lift each other up, and win as one team.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21207" y="274320"/>
            <a:ext cx="11155680" cy="292608"/>
          </a:xfrm>
          <a:prstGeom prst="rect">
            <a:avLst/>
          </a:prstGeom>
          <a:noFill/>
        </p:spPr>
        <p:txBody>
          <a:bodyPr wrap="square" lIns="0" rIns="0" tIns="0" bIns="0">
            <a:noAutofit/>
          </a:bodyPr>
          <a:lstStyle/>
          <a:p>
            <a:pPr algn="l"/>
            <a:r>
              <a:rPr sz="1300" b="1" i="0">
                <a:solidFill>
                  <a:srgbClr val="D6001C"/>
                </a:solidFill>
                <a:latin typeface="Arial"/>
              </a:rPr>
              <a:t>GOAL SHEET</a:t>
            </a:r>
          </a:p>
        </p:txBody>
      </p:sp>
      <p:sp>
        <p:nvSpPr>
          <p:cNvPr id="3" name="TextBox 2"/>
          <p:cNvSpPr txBox="1"/>
          <p:nvPr/>
        </p:nvSpPr>
        <p:spPr>
          <a:xfrm>
            <a:off x="502920" y="548640"/>
            <a:ext cx="11155680" cy="585216"/>
          </a:xfrm>
          <a:prstGeom prst="rect">
            <a:avLst/>
          </a:prstGeom>
          <a:noFill/>
        </p:spPr>
        <p:txBody>
          <a:bodyPr wrap="square" lIns="0" rIns="0" tIns="0" bIns="0">
            <a:noAutofit/>
          </a:bodyPr>
          <a:lstStyle/>
          <a:p>
            <a:pPr algn="l"/>
            <a:r>
              <a:rPr sz="2900" b="1" i="0">
                <a:solidFill>
                  <a:srgbClr val="0A2A5E"/>
                </a:solidFill>
                <a:latin typeface="Arial"/>
              </a:rPr>
              <a:t>My Goals — From 2030 Vision to 90-Day Sprint</a:t>
            </a:r>
          </a:p>
        </p:txBody>
      </p:sp>
      <p:sp>
        <p:nvSpPr>
          <p:cNvPr id="4" name="Rectangle 3"/>
          <p:cNvSpPr/>
          <p:nvPr/>
        </p:nvSpPr>
        <p:spPr>
          <a:xfrm>
            <a:off x="521207" y="1188720"/>
            <a:ext cx="1371600" cy="50292"/>
          </a:xfrm>
          <a:prstGeom prst="rect">
            <a:avLst/>
          </a:prstGeom>
          <a:solidFill>
            <a:srgbClr val="D60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19672"/>
            <a:ext cx="5943600" cy="237744"/>
          </a:xfrm>
          <a:prstGeom prst="rect">
            <a:avLst/>
          </a:prstGeom>
          <a:noFill/>
        </p:spPr>
        <p:txBody>
          <a:bodyPr wrap="square" lIns="0" rIns="0" tIns="0" bIns="0">
            <a:noAutofit/>
          </a:bodyPr>
          <a:lstStyle/>
          <a:p>
            <a:pPr algn="l"/>
            <a:r>
              <a:rPr sz="900" b="0" i="0">
                <a:solidFill>
                  <a:srgbClr val="5A6270"/>
                </a:solidFill>
                <a:latin typeface="Arial"/>
              </a:rPr>
              <a:t>My Agency Game Plan — Presentation 2026</a:t>
            </a:r>
          </a:p>
        </p:txBody>
      </p:sp>
      <p:sp>
        <p:nvSpPr>
          <p:cNvPr id="6" name="TextBox 5"/>
          <p:cNvSpPr txBox="1"/>
          <p:nvPr/>
        </p:nvSpPr>
        <p:spPr>
          <a:xfrm>
            <a:off x="6400800" y="6519672"/>
            <a:ext cx="5285232" cy="237744"/>
          </a:xfrm>
          <a:prstGeom prst="rect">
            <a:avLst/>
          </a:prstGeom>
          <a:noFill/>
        </p:spPr>
        <p:txBody>
          <a:bodyPr wrap="square" lIns="0" rIns="0" tIns="0" bIns="0">
            <a:noAutofit/>
          </a:bodyPr>
          <a:lstStyle/>
          <a:p>
            <a:pPr algn="r"/>
            <a:r>
              <a:rPr sz="900" b="0" i="0">
                <a:solidFill>
                  <a:srgbClr val="5A6270"/>
                </a:solidFill>
                <a:latin typeface="Arial"/>
              </a:rPr>
              <a:t>Agency Builder Onboarding Program</a:t>
            </a:r>
          </a:p>
        </p:txBody>
      </p:sp>
      <p:sp>
        <p:nvSpPr>
          <p:cNvPr id="7" name="Rounded Rectangle 6"/>
          <p:cNvSpPr/>
          <p:nvPr/>
        </p:nvSpPr>
        <p:spPr>
          <a:xfrm>
            <a:off x="502920" y="1463040"/>
            <a:ext cx="3657600" cy="4480560"/>
          </a:xfrm>
          <a:prstGeom prst="roundRect">
            <a:avLst>
              <a:gd name="adj" fmla="val 3000"/>
            </a:avLst>
          </a:prstGeom>
          <a:solidFill>
            <a:srgbClr val="FFFFFF"/>
          </a:solidFill>
          <a:ln w="12700">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63040"/>
            <a:ext cx="3657600" cy="128016"/>
          </a:xfrm>
          <a:prstGeom prst="rect">
            <a:avLst/>
          </a:prstGeom>
          <a:solidFill>
            <a:srgbClr val="0A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1737360"/>
            <a:ext cx="3200400" cy="365760"/>
          </a:xfrm>
          <a:prstGeom prst="rect">
            <a:avLst/>
          </a:prstGeom>
          <a:noFill/>
        </p:spPr>
        <p:txBody>
          <a:bodyPr wrap="square" lIns="0" rIns="0" tIns="0" bIns="0">
            <a:noAutofit/>
          </a:bodyPr>
          <a:lstStyle/>
          <a:p>
            <a:pPr algn="l"/>
            <a:r>
              <a:rPr sz="1600" b="1" i="0">
                <a:solidFill>
                  <a:srgbClr val="0A2A5E"/>
                </a:solidFill>
                <a:latin typeface="Arial"/>
              </a:rPr>
              <a:t>2030 NORTH STAR</a:t>
            </a:r>
          </a:p>
        </p:txBody>
      </p:sp>
      <p:sp>
        <p:nvSpPr>
          <p:cNvPr id="10" name="TextBox 9"/>
          <p:cNvSpPr txBox="1"/>
          <p:nvPr/>
        </p:nvSpPr>
        <p:spPr>
          <a:xfrm>
            <a:off x="740664" y="2176272"/>
            <a:ext cx="3200400" cy="3611880"/>
          </a:xfrm>
          <a:prstGeom prst="rect">
            <a:avLst/>
          </a:prstGeom>
          <a:noFill/>
        </p:spPr>
        <p:txBody>
          <a:bodyPr wrap="square" lIns="0" rIns="0" tIns="0" bIns="0">
            <a:noAutofit/>
          </a:bodyPr>
          <a:lstStyle/>
          <a:p>
            <a:pPr algn="l">
              <a:lnSpc>
                <a:spcPct val="105000"/>
              </a:lnSpc>
              <a:spcAft>
                <a:spcPts val="800"/>
              </a:spcAft>
            </a:pPr>
            <a:r>
              <a:rPr sz="1200" b="1" i="0">
                <a:solidFill>
                  <a:srgbClr val="D6001C"/>
                </a:solidFill>
                <a:latin typeface="Arial"/>
              </a:rPr>
              <a:t>•  </a:t>
            </a:r>
            <a:r>
              <a:rPr sz="1200" b="0" i="0">
                <a:solidFill>
                  <a:srgbClr val="21252B"/>
                </a:solidFill>
                <a:latin typeface="Arial"/>
              </a:rPr>
              <a:t>The most distinctive and admired team in the industry</a:t>
            </a:r>
          </a:p>
          <a:p>
            <a:pPr algn="l">
              <a:lnSpc>
                <a:spcPct val="105000"/>
              </a:lnSpc>
              <a:spcAft>
                <a:spcPts val="800"/>
              </a:spcAft>
            </a:pPr>
            <a:r>
              <a:rPr sz="1200" b="1" i="0">
                <a:solidFill>
                  <a:srgbClr val="D6001C"/>
                </a:solidFill>
                <a:latin typeface="Arial"/>
              </a:rPr>
              <a:t>•  </a:t>
            </a:r>
            <a:r>
              <a:rPr sz="1200" b="0" i="0">
                <a:solidFill>
                  <a:srgbClr val="21252B"/>
                </a:solidFill>
                <a:latin typeface="Arial"/>
              </a:rPr>
              <a:t>A self-sustaining agency of 25+ productive advisors</a:t>
            </a:r>
          </a:p>
          <a:p>
            <a:pPr algn="l">
              <a:lnSpc>
                <a:spcPct val="105000"/>
              </a:lnSpc>
              <a:spcAft>
                <a:spcPts val="800"/>
              </a:spcAft>
            </a:pPr>
            <a:r>
              <a:rPr sz="1200" b="1" i="0">
                <a:solidFill>
                  <a:srgbClr val="D6001C"/>
                </a:solidFill>
                <a:latin typeface="Arial"/>
              </a:rPr>
              <a:t>•  </a:t>
            </a:r>
            <a:r>
              <a:rPr sz="1200" b="0" i="0">
                <a:solidFill>
                  <a:srgbClr val="21252B"/>
                </a:solidFill>
                <a:latin typeface="Arial"/>
              </a:rPr>
              <a:t>1,000+ families across Cebu &amp; Central Visayas living with financial confidence</a:t>
            </a:r>
          </a:p>
          <a:p>
            <a:pPr algn="l">
              <a:lnSpc>
                <a:spcPct val="105000"/>
              </a:lnSpc>
              <a:spcAft>
                <a:spcPts val="800"/>
              </a:spcAft>
            </a:pPr>
            <a:r>
              <a:rPr sz="1200" b="1" i="0">
                <a:solidFill>
                  <a:srgbClr val="D6001C"/>
                </a:solidFill>
                <a:latin typeface="Arial"/>
              </a:rPr>
              <a:t>•  </a:t>
            </a:r>
            <a:r>
              <a:rPr sz="1200" b="0" i="0">
                <a:solidFill>
                  <a:srgbClr val="21252B"/>
                </a:solidFill>
                <a:latin typeface="Arial"/>
              </a:rPr>
              <a:t>Leaders we developed, now leading their own teams</a:t>
            </a:r>
          </a:p>
        </p:txBody>
      </p:sp>
      <p:sp>
        <p:nvSpPr>
          <p:cNvPr id="11" name="Rounded Rectangle 10"/>
          <p:cNvSpPr/>
          <p:nvPr/>
        </p:nvSpPr>
        <p:spPr>
          <a:xfrm>
            <a:off x="4261104" y="1463040"/>
            <a:ext cx="3657600" cy="4480560"/>
          </a:xfrm>
          <a:prstGeom prst="roundRect">
            <a:avLst>
              <a:gd name="adj" fmla="val 3000"/>
            </a:avLst>
          </a:prstGeom>
          <a:solidFill>
            <a:srgbClr val="FFFFFF"/>
          </a:solidFill>
          <a:ln w="12700">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61104" y="1463040"/>
            <a:ext cx="3657600" cy="128016"/>
          </a:xfrm>
          <a:prstGeom prst="rect">
            <a:avLst/>
          </a:prstGeom>
          <a:solidFill>
            <a:srgbClr val="D60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1737360"/>
            <a:ext cx="3200400" cy="365760"/>
          </a:xfrm>
          <a:prstGeom prst="rect">
            <a:avLst/>
          </a:prstGeom>
          <a:noFill/>
        </p:spPr>
        <p:txBody>
          <a:bodyPr wrap="square" lIns="0" rIns="0" tIns="0" bIns="0">
            <a:noAutofit/>
          </a:bodyPr>
          <a:lstStyle/>
          <a:p>
            <a:pPr algn="l"/>
            <a:r>
              <a:rPr sz="1600" b="1" i="0">
                <a:solidFill>
                  <a:srgbClr val="0A2A5E"/>
                </a:solidFill>
                <a:latin typeface="Arial"/>
              </a:rPr>
              <a:t>12-MONTH TARGETS</a:t>
            </a:r>
          </a:p>
        </p:txBody>
      </p:sp>
      <p:sp>
        <p:nvSpPr>
          <p:cNvPr id="14" name="TextBox 13"/>
          <p:cNvSpPr txBox="1"/>
          <p:nvPr/>
        </p:nvSpPr>
        <p:spPr>
          <a:xfrm>
            <a:off x="4498848" y="2176272"/>
            <a:ext cx="3200400" cy="3611880"/>
          </a:xfrm>
          <a:prstGeom prst="rect">
            <a:avLst/>
          </a:prstGeom>
          <a:noFill/>
        </p:spPr>
        <p:txBody>
          <a:bodyPr wrap="square" lIns="0" rIns="0" tIns="0" bIns="0">
            <a:noAutofit/>
          </a:bodyPr>
          <a:lstStyle/>
          <a:p>
            <a:pPr algn="l">
              <a:lnSpc>
                <a:spcPct val="105000"/>
              </a:lnSpc>
              <a:spcAft>
                <a:spcPts val="800"/>
              </a:spcAft>
            </a:pPr>
            <a:r>
              <a:rPr sz="1200" b="1" i="0">
                <a:solidFill>
                  <a:srgbClr val="D6001C"/>
                </a:solidFill>
                <a:latin typeface="Arial"/>
              </a:rPr>
              <a:t>•  </a:t>
            </a:r>
            <a:r>
              <a:rPr sz="1200" b="0" i="0">
                <a:solidFill>
                  <a:srgbClr val="21252B"/>
                </a:solidFill>
                <a:latin typeface="Arial"/>
              </a:rPr>
              <a:t>12 recruits licensed — 1 per month</a:t>
            </a:r>
          </a:p>
          <a:p>
            <a:pPr algn="l">
              <a:lnSpc>
                <a:spcPct val="105000"/>
              </a:lnSpc>
              <a:spcAft>
                <a:spcPts val="800"/>
              </a:spcAft>
            </a:pPr>
            <a:r>
              <a:rPr sz="1200" b="1" i="0">
                <a:solidFill>
                  <a:srgbClr val="D6001C"/>
                </a:solidFill>
                <a:latin typeface="Arial"/>
              </a:rPr>
              <a:t>•  </a:t>
            </a:r>
            <a:r>
              <a:rPr sz="1200" b="0" i="0">
                <a:solidFill>
                  <a:srgbClr val="21252B"/>
                </a:solidFill>
                <a:latin typeface="Arial"/>
              </a:rPr>
              <a:t>8 active producers by December</a:t>
            </a:r>
          </a:p>
          <a:p>
            <a:pPr algn="l">
              <a:lnSpc>
                <a:spcPct val="105000"/>
              </a:lnSpc>
              <a:spcAft>
                <a:spcPts val="800"/>
              </a:spcAft>
            </a:pPr>
            <a:r>
              <a:rPr sz="1200" b="1" i="0">
                <a:solidFill>
                  <a:srgbClr val="D6001C"/>
                </a:solidFill>
                <a:latin typeface="Arial"/>
              </a:rPr>
              <a:t>•  </a:t>
            </a:r>
            <a:r>
              <a:rPr sz="1200" b="0" i="0">
                <a:solidFill>
                  <a:srgbClr val="21252B"/>
                </a:solidFill>
                <a:latin typeface="Arial"/>
              </a:rPr>
              <a:t>120+ team cases in the year</a:t>
            </a:r>
          </a:p>
          <a:p>
            <a:pPr algn="l">
              <a:lnSpc>
                <a:spcPct val="105000"/>
              </a:lnSpc>
              <a:spcAft>
                <a:spcPts val="800"/>
              </a:spcAft>
            </a:pPr>
            <a:r>
              <a:rPr sz="1200" b="1" i="0">
                <a:solidFill>
                  <a:srgbClr val="D6001C"/>
                </a:solidFill>
                <a:latin typeface="Arial"/>
              </a:rPr>
              <a:t>•  </a:t>
            </a:r>
            <a:r>
              <a:rPr sz="1200" b="0" i="0">
                <a:solidFill>
                  <a:srgbClr val="21252B"/>
                </a:solidFill>
                <a:latin typeface="Arial"/>
              </a:rPr>
              <a:t>100 new families served</a:t>
            </a:r>
          </a:p>
          <a:p>
            <a:pPr algn="l">
              <a:lnSpc>
                <a:spcPct val="105000"/>
              </a:lnSpc>
              <a:spcAft>
                <a:spcPts val="800"/>
              </a:spcAft>
            </a:pPr>
            <a:r>
              <a:rPr sz="1200" b="1" i="0">
                <a:solidFill>
                  <a:srgbClr val="D6001C"/>
                </a:solidFill>
                <a:latin typeface="Arial"/>
              </a:rPr>
              <a:t>•  </a:t>
            </a:r>
            <a:r>
              <a:rPr sz="1200" b="0" i="0">
                <a:solidFill>
                  <a:srgbClr val="21252B"/>
                </a:solidFill>
                <a:latin typeface="Arial"/>
              </a:rPr>
              <a:t>Personal production: 2 cases per month (24 for the year)</a:t>
            </a:r>
          </a:p>
        </p:txBody>
      </p:sp>
      <p:sp>
        <p:nvSpPr>
          <p:cNvPr id="15" name="Rounded Rectangle 14"/>
          <p:cNvSpPr/>
          <p:nvPr/>
        </p:nvSpPr>
        <p:spPr>
          <a:xfrm>
            <a:off x="8019288" y="1463040"/>
            <a:ext cx="3657600" cy="4480560"/>
          </a:xfrm>
          <a:prstGeom prst="roundRect">
            <a:avLst>
              <a:gd name="adj" fmla="val 3000"/>
            </a:avLst>
          </a:prstGeom>
          <a:solidFill>
            <a:srgbClr val="FFFFFF"/>
          </a:solidFill>
          <a:ln w="12700">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19288" y="1463040"/>
            <a:ext cx="3657600" cy="128016"/>
          </a:xfrm>
          <a:prstGeom prst="rect">
            <a:avLst/>
          </a:prstGeom>
          <a:solidFill>
            <a:srgbClr val="0A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7031" y="1737360"/>
            <a:ext cx="3200400" cy="365760"/>
          </a:xfrm>
          <a:prstGeom prst="rect">
            <a:avLst/>
          </a:prstGeom>
          <a:noFill/>
        </p:spPr>
        <p:txBody>
          <a:bodyPr wrap="square" lIns="0" rIns="0" tIns="0" bIns="0">
            <a:noAutofit/>
          </a:bodyPr>
          <a:lstStyle/>
          <a:p>
            <a:pPr algn="l"/>
            <a:r>
              <a:rPr sz="1600" b="1" i="0">
                <a:solidFill>
                  <a:srgbClr val="0A2A5E"/>
                </a:solidFill>
                <a:latin typeface="Arial"/>
              </a:rPr>
              <a:t>90-DAY SPRINT</a:t>
            </a:r>
          </a:p>
        </p:txBody>
      </p:sp>
      <p:sp>
        <p:nvSpPr>
          <p:cNvPr id="18" name="TextBox 17"/>
          <p:cNvSpPr txBox="1"/>
          <p:nvPr/>
        </p:nvSpPr>
        <p:spPr>
          <a:xfrm>
            <a:off x="8257031" y="2176272"/>
            <a:ext cx="3200400" cy="3611880"/>
          </a:xfrm>
          <a:prstGeom prst="rect">
            <a:avLst/>
          </a:prstGeom>
          <a:noFill/>
        </p:spPr>
        <p:txBody>
          <a:bodyPr wrap="square" lIns="0" rIns="0" tIns="0" bIns="0">
            <a:noAutofit/>
          </a:bodyPr>
          <a:lstStyle/>
          <a:p>
            <a:pPr algn="l">
              <a:lnSpc>
                <a:spcPct val="105000"/>
              </a:lnSpc>
              <a:spcAft>
                <a:spcPts val="800"/>
              </a:spcAft>
            </a:pPr>
            <a:r>
              <a:rPr sz="1200" b="1" i="0">
                <a:solidFill>
                  <a:srgbClr val="D6001C"/>
                </a:solidFill>
                <a:latin typeface="Arial"/>
              </a:rPr>
              <a:t>•  </a:t>
            </a:r>
            <a:r>
              <a:rPr sz="1200" b="0" i="0">
                <a:solidFill>
                  <a:srgbClr val="21252B"/>
                </a:solidFill>
                <a:latin typeface="Arial"/>
              </a:rPr>
              <a:t>Build my 100-name candidate list</a:t>
            </a:r>
          </a:p>
          <a:p>
            <a:pPr algn="l">
              <a:lnSpc>
                <a:spcPct val="105000"/>
              </a:lnSpc>
              <a:spcAft>
                <a:spcPts val="800"/>
              </a:spcAft>
            </a:pPr>
            <a:r>
              <a:rPr sz="1200" b="1" i="0">
                <a:solidFill>
                  <a:srgbClr val="D6001C"/>
                </a:solidFill>
                <a:latin typeface="Arial"/>
              </a:rPr>
              <a:t>•  </a:t>
            </a:r>
            <a:r>
              <a:rPr sz="1200" b="0" i="0">
                <a:solidFill>
                  <a:srgbClr val="21252B"/>
                </a:solidFill>
                <a:latin typeface="Arial"/>
              </a:rPr>
              <a:t>30 recruitment conversations → 3 recruits</a:t>
            </a:r>
          </a:p>
          <a:p>
            <a:pPr algn="l">
              <a:lnSpc>
                <a:spcPct val="105000"/>
              </a:lnSpc>
              <a:spcAft>
                <a:spcPts val="800"/>
              </a:spcAft>
            </a:pPr>
            <a:r>
              <a:rPr sz="1200" b="1" i="0">
                <a:solidFill>
                  <a:srgbClr val="D6001C"/>
                </a:solidFill>
                <a:latin typeface="Arial"/>
              </a:rPr>
              <a:t>•  </a:t>
            </a:r>
            <a:r>
              <a:rPr sz="1200" b="0" i="0">
                <a:solidFill>
                  <a:srgbClr val="21252B"/>
                </a:solidFill>
                <a:latin typeface="Arial"/>
              </a:rPr>
              <a:t>3 recruits contracted and licensed</a:t>
            </a:r>
          </a:p>
          <a:p>
            <a:pPr algn="l">
              <a:lnSpc>
                <a:spcPct val="105000"/>
              </a:lnSpc>
              <a:spcAft>
                <a:spcPts val="800"/>
              </a:spcAft>
            </a:pPr>
            <a:r>
              <a:rPr sz="1200" b="1" i="0">
                <a:solidFill>
                  <a:srgbClr val="D6001C"/>
                </a:solidFill>
                <a:latin typeface="Arial"/>
              </a:rPr>
              <a:t>•  </a:t>
            </a:r>
            <a:r>
              <a:rPr sz="1200" b="0" i="0">
                <a:solidFill>
                  <a:srgbClr val="21252B"/>
                </a:solidFill>
                <a:latin typeface="Arial"/>
              </a:rPr>
              <a:t>6 personal cases closed</a:t>
            </a:r>
          </a:p>
          <a:p>
            <a:pPr algn="l">
              <a:lnSpc>
                <a:spcPct val="105000"/>
              </a:lnSpc>
              <a:spcAft>
                <a:spcPts val="800"/>
              </a:spcAft>
            </a:pPr>
            <a:r>
              <a:rPr sz="1200" b="1" i="0">
                <a:solidFill>
                  <a:srgbClr val="D6001C"/>
                </a:solidFill>
                <a:latin typeface="Arial"/>
              </a:rPr>
              <a:t>•  </a:t>
            </a:r>
            <a:r>
              <a:rPr sz="1200" b="0" i="0">
                <a:solidFill>
                  <a:srgbClr val="21252B"/>
                </a:solidFill>
                <a:latin typeface="Arial"/>
              </a:rPr>
              <a:t>Weekly scorecard live from Week 1</a:t>
            </a:r>
          </a:p>
        </p:txBody>
      </p:sp>
      <p:sp>
        <p:nvSpPr>
          <p:cNvPr id="19" name="TextBox 18"/>
          <p:cNvSpPr txBox="1"/>
          <p:nvPr/>
        </p:nvSpPr>
        <p:spPr>
          <a:xfrm>
            <a:off x="502920" y="6108192"/>
            <a:ext cx="11155680" cy="320040"/>
          </a:xfrm>
          <a:prstGeom prst="rect">
            <a:avLst/>
          </a:prstGeom>
          <a:noFill/>
        </p:spPr>
        <p:txBody>
          <a:bodyPr wrap="square" lIns="0" rIns="0" tIns="0" bIns="0">
            <a:noAutofit/>
          </a:bodyPr>
          <a:lstStyle/>
          <a:p>
            <a:pPr algn="l"/>
            <a:r>
              <a:rPr sz="1150" b="0" i="1">
                <a:solidFill>
                  <a:srgbClr val="5A6270"/>
                </a:solidFill>
                <a:latin typeface="Arial"/>
              </a:rPr>
              <a:t>Reviewed every Friday  •  Adjusted monthly  •  Shared with my team leader for accountability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21207" y="274320"/>
            <a:ext cx="11155680" cy="292608"/>
          </a:xfrm>
          <a:prstGeom prst="rect">
            <a:avLst/>
          </a:prstGeom>
          <a:noFill/>
        </p:spPr>
        <p:txBody>
          <a:bodyPr wrap="square" lIns="0" rIns="0" tIns="0" bIns="0">
            <a:noAutofit/>
          </a:bodyPr>
          <a:lstStyle/>
          <a:p>
            <a:pPr algn="l"/>
            <a:r>
              <a:rPr sz="1300" b="1" i="0">
                <a:solidFill>
                  <a:srgbClr val="D6001C"/>
                </a:solidFill>
                <a:latin typeface="Arial"/>
              </a:rPr>
              <a:t>RECRUITMENT PLAN</a:t>
            </a:r>
          </a:p>
        </p:txBody>
      </p:sp>
      <p:sp>
        <p:nvSpPr>
          <p:cNvPr id="3" name="TextBox 2"/>
          <p:cNvSpPr txBox="1"/>
          <p:nvPr/>
        </p:nvSpPr>
        <p:spPr>
          <a:xfrm>
            <a:off x="502920" y="548640"/>
            <a:ext cx="11155680" cy="585216"/>
          </a:xfrm>
          <a:prstGeom prst="rect">
            <a:avLst/>
          </a:prstGeom>
          <a:noFill/>
        </p:spPr>
        <p:txBody>
          <a:bodyPr wrap="square" lIns="0" rIns="0" tIns="0" bIns="0">
            <a:noAutofit/>
          </a:bodyPr>
          <a:lstStyle/>
          <a:p>
            <a:pPr algn="l"/>
            <a:r>
              <a:rPr sz="2900" b="1" i="0">
                <a:solidFill>
                  <a:srgbClr val="0A2A5E"/>
                </a:solidFill>
                <a:latin typeface="Arial"/>
              </a:rPr>
              <a:t>Profile of Recruit</a:t>
            </a:r>
          </a:p>
        </p:txBody>
      </p:sp>
      <p:sp>
        <p:nvSpPr>
          <p:cNvPr id="4" name="Rectangle 3"/>
          <p:cNvSpPr/>
          <p:nvPr/>
        </p:nvSpPr>
        <p:spPr>
          <a:xfrm>
            <a:off x="521207" y="1188720"/>
            <a:ext cx="1371600" cy="50292"/>
          </a:xfrm>
          <a:prstGeom prst="rect">
            <a:avLst/>
          </a:prstGeom>
          <a:solidFill>
            <a:srgbClr val="D60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19672"/>
            <a:ext cx="5943600" cy="237744"/>
          </a:xfrm>
          <a:prstGeom prst="rect">
            <a:avLst/>
          </a:prstGeom>
          <a:noFill/>
        </p:spPr>
        <p:txBody>
          <a:bodyPr wrap="square" lIns="0" rIns="0" tIns="0" bIns="0">
            <a:noAutofit/>
          </a:bodyPr>
          <a:lstStyle/>
          <a:p>
            <a:pPr algn="l"/>
            <a:r>
              <a:rPr sz="900" b="0" i="0">
                <a:solidFill>
                  <a:srgbClr val="5A6270"/>
                </a:solidFill>
                <a:latin typeface="Arial"/>
              </a:rPr>
              <a:t>My Agency Game Plan — Presentation 2026</a:t>
            </a:r>
          </a:p>
        </p:txBody>
      </p:sp>
      <p:sp>
        <p:nvSpPr>
          <p:cNvPr id="6" name="TextBox 5"/>
          <p:cNvSpPr txBox="1"/>
          <p:nvPr/>
        </p:nvSpPr>
        <p:spPr>
          <a:xfrm>
            <a:off x="6400800" y="6519672"/>
            <a:ext cx="5285232" cy="237744"/>
          </a:xfrm>
          <a:prstGeom prst="rect">
            <a:avLst/>
          </a:prstGeom>
          <a:noFill/>
        </p:spPr>
        <p:txBody>
          <a:bodyPr wrap="square" lIns="0" rIns="0" tIns="0" bIns="0">
            <a:noAutofit/>
          </a:bodyPr>
          <a:lstStyle/>
          <a:p>
            <a:pPr algn="r"/>
            <a:r>
              <a:rPr sz="900" b="0" i="0">
                <a:solidFill>
                  <a:srgbClr val="5A6270"/>
                </a:solidFill>
                <a:latin typeface="Arial"/>
              </a:rPr>
              <a:t>Agency Builder Onboarding Program</a:t>
            </a:r>
          </a:p>
        </p:txBody>
      </p:sp>
      <p:sp>
        <p:nvSpPr>
          <p:cNvPr id="7" name="TextBox 6"/>
          <p:cNvSpPr txBox="1"/>
          <p:nvPr/>
        </p:nvSpPr>
        <p:spPr>
          <a:xfrm>
            <a:off x="502920" y="1371600"/>
            <a:ext cx="11155680" cy="365760"/>
          </a:xfrm>
          <a:prstGeom prst="rect">
            <a:avLst/>
          </a:prstGeom>
          <a:noFill/>
        </p:spPr>
        <p:txBody>
          <a:bodyPr wrap="square" lIns="0" rIns="0" tIns="0" bIns="0">
            <a:noAutofit/>
          </a:bodyPr>
          <a:lstStyle/>
          <a:p>
            <a:pPr algn="l"/>
            <a:r>
              <a:rPr sz="1250" b="0" i="1">
                <a:solidFill>
                  <a:srgbClr val="5A6270"/>
                </a:solidFill>
                <a:latin typeface="Arial"/>
              </a:rPr>
              <a:t>What are your ideal candidate's qualifications, skills, experience, education, and personal attributes?</a:t>
            </a:r>
          </a:p>
        </p:txBody>
      </p:sp>
      <p:sp>
        <p:nvSpPr>
          <p:cNvPr id="8" name="Rounded Rectangle 7"/>
          <p:cNvSpPr/>
          <p:nvPr/>
        </p:nvSpPr>
        <p:spPr>
          <a:xfrm>
            <a:off x="502920" y="1828800"/>
            <a:ext cx="6720840" cy="4480560"/>
          </a:xfrm>
          <a:prstGeom prst="roundRect">
            <a:avLst>
              <a:gd name="adj" fmla="val 3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048256"/>
            <a:ext cx="6217920" cy="365760"/>
          </a:xfrm>
          <a:prstGeom prst="rect">
            <a:avLst/>
          </a:prstGeom>
          <a:noFill/>
        </p:spPr>
        <p:txBody>
          <a:bodyPr wrap="square" lIns="0" rIns="0" tIns="0" bIns="0">
            <a:noAutofit/>
          </a:bodyPr>
          <a:lstStyle/>
          <a:p>
            <a:pPr algn="l"/>
            <a:r>
              <a:rPr sz="1500" b="1" i="0">
                <a:solidFill>
                  <a:srgbClr val="0A2A5E"/>
                </a:solidFill>
                <a:latin typeface="Arial"/>
              </a:rPr>
              <a:t>Ideal Candidate Profile</a:t>
            </a:r>
          </a:p>
        </p:txBody>
      </p:sp>
      <p:sp>
        <p:nvSpPr>
          <p:cNvPr id="10" name="TextBox 9"/>
          <p:cNvSpPr txBox="1"/>
          <p:nvPr/>
        </p:nvSpPr>
        <p:spPr>
          <a:xfrm>
            <a:off x="777240" y="2523744"/>
            <a:ext cx="6217920" cy="3657600"/>
          </a:xfrm>
          <a:prstGeom prst="rect">
            <a:avLst/>
          </a:prstGeom>
          <a:noFill/>
        </p:spPr>
        <p:txBody>
          <a:bodyPr wrap="square" lIns="0" rIns="0" tIns="0" bIns="0">
            <a:noAutofit/>
          </a:bodyPr>
          <a:lstStyle/>
          <a:p>
            <a:pPr algn="l">
              <a:lnSpc>
                <a:spcPct val="105000"/>
              </a:lnSpc>
              <a:spcAft>
                <a:spcPts val="800"/>
              </a:spcAft>
            </a:pPr>
            <a:r>
              <a:rPr sz="1250" b="1" i="0">
                <a:solidFill>
                  <a:srgbClr val="D6001C"/>
                </a:solidFill>
                <a:latin typeface="Arial"/>
              </a:rPr>
              <a:t>•  </a:t>
            </a:r>
            <a:r>
              <a:rPr sz="1250" b="0" i="0">
                <a:solidFill>
                  <a:srgbClr val="21252B"/>
                </a:solidFill>
                <a:latin typeface="Arial"/>
              </a:rPr>
              <a:t>College graduate, any course (ages 23–45)</a:t>
            </a:r>
          </a:p>
          <a:p>
            <a:pPr algn="l">
              <a:lnSpc>
                <a:spcPct val="105000"/>
              </a:lnSpc>
              <a:spcAft>
                <a:spcPts val="800"/>
              </a:spcAft>
            </a:pPr>
            <a:r>
              <a:rPr sz="1250" b="1" i="0">
                <a:solidFill>
                  <a:srgbClr val="D6001C"/>
                </a:solidFill>
                <a:latin typeface="Arial"/>
              </a:rPr>
              <a:t>•  </a:t>
            </a:r>
            <a:r>
              <a:rPr sz="1250" b="0" i="0">
                <a:solidFill>
                  <a:srgbClr val="21252B"/>
                </a:solidFill>
                <a:latin typeface="Arial"/>
              </a:rPr>
              <a:t>1–3 years in sales, service, teaching, BPO, banking, or real estate</a:t>
            </a:r>
          </a:p>
          <a:p>
            <a:pPr algn="l">
              <a:lnSpc>
                <a:spcPct val="105000"/>
              </a:lnSpc>
              <a:spcAft>
                <a:spcPts val="800"/>
              </a:spcAft>
            </a:pPr>
            <a:r>
              <a:rPr sz="1250" b="1" i="0">
                <a:solidFill>
                  <a:srgbClr val="D6001C"/>
                </a:solidFill>
                <a:latin typeface="Arial"/>
              </a:rPr>
              <a:t>•  </a:t>
            </a:r>
            <a:r>
              <a:rPr sz="1250" b="0" i="0">
                <a:solidFill>
                  <a:srgbClr val="21252B"/>
                </a:solidFill>
                <a:latin typeface="Arial"/>
              </a:rPr>
              <a:t>Entrepreneurial mindset — hungry for unlimited income growth</a:t>
            </a:r>
          </a:p>
          <a:p>
            <a:pPr algn="l">
              <a:lnSpc>
                <a:spcPct val="105000"/>
              </a:lnSpc>
              <a:spcAft>
                <a:spcPts val="800"/>
              </a:spcAft>
            </a:pPr>
            <a:r>
              <a:rPr sz="1250" b="1" i="0">
                <a:solidFill>
                  <a:srgbClr val="D6001C"/>
                </a:solidFill>
                <a:latin typeface="Arial"/>
              </a:rPr>
              <a:t>•  </a:t>
            </a:r>
            <a:r>
              <a:rPr sz="1250" b="0" i="0">
                <a:solidFill>
                  <a:srgbClr val="21252B"/>
                </a:solidFill>
                <a:latin typeface="Arial"/>
              </a:rPr>
              <a:t>Strong communication and relationship-building skills</a:t>
            </a:r>
          </a:p>
          <a:p>
            <a:pPr algn="l">
              <a:lnSpc>
                <a:spcPct val="105000"/>
              </a:lnSpc>
              <a:spcAft>
                <a:spcPts val="800"/>
              </a:spcAft>
            </a:pPr>
            <a:r>
              <a:rPr sz="1250" b="1" i="0">
                <a:solidFill>
                  <a:srgbClr val="D6001C"/>
                </a:solidFill>
                <a:latin typeface="Arial"/>
              </a:rPr>
              <a:t>•  </a:t>
            </a:r>
            <a:r>
              <a:rPr sz="1250" b="0" i="0">
                <a:solidFill>
                  <a:srgbClr val="21252B"/>
                </a:solidFill>
                <a:latin typeface="Arial"/>
              </a:rPr>
              <a:t>Coachable, disciplined, and self-motivated</a:t>
            </a:r>
          </a:p>
          <a:p>
            <a:pPr algn="l">
              <a:lnSpc>
                <a:spcPct val="105000"/>
              </a:lnSpc>
              <a:spcAft>
                <a:spcPts val="800"/>
              </a:spcAft>
            </a:pPr>
            <a:r>
              <a:rPr sz="1250" b="1" i="0">
                <a:solidFill>
                  <a:srgbClr val="D6001C"/>
                </a:solidFill>
                <a:latin typeface="Arial"/>
              </a:rPr>
              <a:t>•  </a:t>
            </a:r>
            <a:r>
              <a:rPr sz="1250" b="0" i="0">
                <a:solidFill>
                  <a:srgbClr val="21252B"/>
                </a:solidFill>
                <a:latin typeface="Arial"/>
              </a:rPr>
              <a:t>Based in Cebu / Central Visayas and open to field work</a:t>
            </a:r>
          </a:p>
          <a:p>
            <a:pPr algn="l">
              <a:lnSpc>
                <a:spcPct val="105000"/>
              </a:lnSpc>
              <a:spcAft>
                <a:spcPts val="800"/>
              </a:spcAft>
            </a:pPr>
            <a:r>
              <a:rPr sz="1250" b="1" i="0">
                <a:solidFill>
                  <a:srgbClr val="D6001C"/>
                </a:solidFill>
                <a:latin typeface="Arial"/>
              </a:rPr>
              <a:t>•  </a:t>
            </a:r>
            <a:r>
              <a:rPr sz="1250" b="0" i="0">
                <a:solidFill>
                  <a:srgbClr val="21252B"/>
                </a:solidFill>
                <a:latin typeface="Arial"/>
              </a:rPr>
              <a:t>Newly licensed — or willing to take the licensing exam</a:t>
            </a:r>
          </a:p>
        </p:txBody>
      </p:sp>
      <p:sp>
        <p:nvSpPr>
          <p:cNvPr id="11" name="Rounded Rectangle 10"/>
          <p:cNvSpPr/>
          <p:nvPr/>
        </p:nvSpPr>
        <p:spPr>
          <a:xfrm>
            <a:off x="7452360" y="1828800"/>
            <a:ext cx="4233672" cy="4480560"/>
          </a:xfrm>
          <a:prstGeom prst="roundRect">
            <a:avLst>
              <a:gd name="adj" fmla="val 3000"/>
            </a:avLst>
          </a:prstGeom>
          <a:solidFill>
            <a:srgbClr val="0A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2048256"/>
            <a:ext cx="3657600" cy="365760"/>
          </a:xfrm>
          <a:prstGeom prst="rect">
            <a:avLst/>
          </a:prstGeom>
          <a:noFill/>
        </p:spPr>
        <p:txBody>
          <a:bodyPr wrap="square" lIns="0" rIns="0" tIns="0" bIns="0">
            <a:noAutofit/>
          </a:bodyPr>
          <a:lstStyle/>
          <a:p>
            <a:pPr algn="l"/>
            <a:r>
              <a:rPr sz="1500" b="1" i="0">
                <a:solidFill>
                  <a:srgbClr val="FFFFFF"/>
                </a:solidFill>
                <a:latin typeface="Arial"/>
              </a:rPr>
              <a:t>CARE Fit Checklist</a:t>
            </a:r>
          </a:p>
        </p:txBody>
      </p:sp>
      <p:sp>
        <p:nvSpPr>
          <p:cNvPr id="13" name="TextBox 12"/>
          <p:cNvSpPr txBox="1"/>
          <p:nvPr/>
        </p:nvSpPr>
        <p:spPr>
          <a:xfrm>
            <a:off x="7726679" y="2651760"/>
            <a:ext cx="3749039" cy="822960"/>
          </a:xfrm>
          <a:prstGeom prst="rect">
            <a:avLst/>
          </a:prstGeom>
          <a:noFill/>
        </p:spPr>
        <p:txBody>
          <a:bodyPr wrap="square" lIns="0" rIns="0" tIns="0" bIns="0">
            <a:noAutofit/>
          </a:bodyPr>
          <a:lstStyle/>
          <a:p>
            <a:pPr algn="l">
              <a:spcAft>
                <a:spcPts val="200"/>
              </a:spcAft>
            </a:pPr>
            <a:r>
              <a:rPr sz="1350" b="1" i="0">
                <a:solidFill>
                  <a:srgbClr val="FF6B7D"/>
                </a:solidFill>
                <a:latin typeface="Arial"/>
              </a:rPr>
              <a:t>C — </a:t>
            </a:r>
            <a:r>
              <a:rPr sz="1350" b="1" i="0">
                <a:solidFill>
                  <a:srgbClr val="FFFFFF"/>
                </a:solidFill>
                <a:latin typeface="Arial"/>
              </a:rPr>
              <a:t>Client Obsessed</a:t>
            </a:r>
          </a:p>
          <a:p>
            <a:pPr algn="l"/>
            <a:r>
              <a:rPr sz="1100" b="0" i="0">
                <a:solidFill>
                  <a:srgbClr val="B9C4D6"/>
                </a:solidFill>
                <a:latin typeface="Arial"/>
              </a:rPr>
              <a:t>Genuinely enjoys helping families win</a:t>
            </a:r>
          </a:p>
        </p:txBody>
      </p:sp>
      <p:sp>
        <p:nvSpPr>
          <p:cNvPr id="14" name="TextBox 13"/>
          <p:cNvSpPr txBox="1"/>
          <p:nvPr/>
        </p:nvSpPr>
        <p:spPr>
          <a:xfrm>
            <a:off x="7726679" y="3566160"/>
            <a:ext cx="3749039" cy="822960"/>
          </a:xfrm>
          <a:prstGeom prst="rect">
            <a:avLst/>
          </a:prstGeom>
          <a:noFill/>
        </p:spPr>
        <p:txBody>
          <a:bodyPr wrap="square" lIns="0" rIns="0" tIns="0" bIns="0">
            <a:noAutofit/>
          </a:bodyPr>
          <a:lstStyle/>
          <a:p>
            <a:pPr algn="l">
              <a:spcAft>
                <a:spcPts val="200"/>
              </a:spcAft>
            </a:pPr>
            <a:r>
              <a:rPr sz="1350" b="1" i="0">
                <a:solidFill>
                  <a:srgbClr val="FF6B7D"/>
                </a:solidFill>
                <a:latin typeface="Arial"/>
              </a:rPr>
              <a:t>A — </a:t>
            </a:r>
            <a:r>
              <a:rPr sz="1350" b="1" i="0">
                <a:solidFill>
                  <a:srgbClr val="FFFFFF"/>
                </a:solidFill>
                <a:latin typeface="Arial"/>
              </a:rPr>
              <a:t>Accountable</a:t>
            </a:r>
          </a:p>
          <a:p>
            <a:pPr algn="l"/>
            <a:r>
              <a:rPr sz="1100" b="0" i="0">
                <a:solidFill>
                  <a:srgbClr val="B9C4D6"/>
                </a:solidFill>
                <a:latin typeface="Arial"/>
              </a:rPr>
              <a:t>Honest with money, records, and time</a:t>
            </a:r>
          </a:p>
        </p:txBody>
      </p:sp>
      <p:sp>
        <p:nvSpPr>
          <p:cNvPr id="15" name="TextBox 14"/>
          <p:cNvSpPr txBox="1"/>
          <p:nvPr/>
        </p:nvSpPr>
        <p:spPr>
          <a:xfrm>
            <a:off x="7726679" y="4480560"/>
            <a:ext cx="3749039" cy="822960"/>
          </a:xfrm>
          <a:prstGeom prst="rect">
            <a:avLst/>
          </a:prstGeom>
          <a:noFill/>
        </p:spPr>
        <p:txBody>
          <a:bodyPr wrap="square" lIns="0" rIns="0" tIns="0" bIns="0">
            <a:noAutofit/>
          </a:bodyPr>
          <a:lstStyle/>
          <a:p>
            <a:pPr algn="l">
              <a:spcAft>
                <a:spcPts val="200"/>
              </a:spcAft>
            </a:pPr>
            <a:r>
              <a:rPr sz="1350" b="1" i="0">
                <a:solidFill>
                  <a:srgbClr val="FF6B7D"/>
                </a:solidFill>
                <a:latin typeface="Arial"/>
              </a:rPr>
              <a:t>R — </a:t>
            </a:r>
            <a:r>
              <a:rPr sz="1350" b="1" i="0">
                <a:solidFill>
                  <a:srgbClr val="FFFFFF"/>
                </a:solidFill>
                <a:latin typeface="Arial"/>
              </a:rPr>
              <a:t>Resilient</a:t>
            </a:r>
          </a:p>
          <a:p>
            <a:pPr algn="l"/>
            <a:r>
              <a:rPr sz="1100" b="0" i="0">
                <a:solidFill>
                  <a:srgbClr val="B9C4D6"/>
                </a:solidFill>
                <a:latin typeface="Arial"/>
              </a:rPr>
              <a:t>Handles rejection without losing drive</a:t>
            </a:r>
          </a:p>
        </p:txBody>
      </p:sp>
      <p:sp>
        <p:nvSpPr>
          <p:cNvPr id="16" name="TextBox 15"/>
          <p:cNvSpPr txBox="1"/>
          <p:nvPr/>
        </p:nvSpPr>
        <p:spPr>
          <a:xfrm>
            <a:off x="7726679" y="5394960"/>
            <a:ext cx="3749039" cy="822960"/>
          </a:xfrm>
          <a:prstGeom prst="rect">
            <a:avLst/>
          </a:prstGeom>
          <a:noFill/>
        </p:spPr>
        <p:txBody>
          <a:bodyPr wrap="square" lIns="0" rIns="0" tIns="0" bIns="0">
            <a:noAutofit/>
          </a:bodyPr>
          <a:lstStyle/>
          <a:p>
            <a:pPr algn="l">
              <a:spcAft>
                <a:spcPts val="200"/>
              </a:spcAft>
            </a:pPr>
            <a:r>
              <a:rPr sz="1350" b="1" i="0">
                <a:solidFill>
                  <a:srgbClr val="FF6B7D"/>
                </a:solidFill>
                <a:latin typeface="Arial"/>
              </a:rPr>
              <a:t>E — </a:t>
            </a:r>
            <a:r>
              <a:rPr sz="1350" b="1" i="0">
                <a:solidFill>
                  <a:srgbClr val="FFFFFF"/>
                </a:solidFill>
                <a:latin typeface="Arial"/>
              </a:rPr>
              <a:t>One Team</a:t>
            </a:r>
          </a:p>
          <a:p>
            <a:pPr algn="l"/>
            <a:r>
              <a:rPr sz="1100" b="0" i="0">
                <a:solidFill>
                  <a:srgbClr val="B9C4D6"/>
                </a:solidFill>
                <a:latin typeface="Arial"/>
              </a:rPr>
              <a:t>Team player who celebrates others' wins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21207" y="274320"/>
            <a:ext cx="11155680" cy="292608"/>
          </a:xfrm>
          <a:prstGeom prst="rect">
            <a:avLst/>
          </a:prstGeom>
          <a:noFill/>
        </p:spPr>
        <p:txBody>
          <a:bodyPr wrap="square" lIns="0" rIns="0" tIns="0" bIns="0">
            <a:noAutofit/>
          </a:bodyPr>
          <a:lstStyle/>
          <a:p>
            <a:pPr algn="l"/>
            <a:r>
              <a:rPr sz="1300" b="1" i="0">
                <a:solidFill>
                  <a:srgbClr val="D6001C"/>
                </a:solidFill>
                <a:latin typeface="Arial"/>
              </a:rPr>
              <a:t>RECRUITMENT PLAN</a:t>
            </a:r>
          </a:p>
        </p:txBody>
      </p:sp>
      <p:sp>
        <p:nvSpPr>
          <p:cNvPr id="3" name="TextBox 2"/>
          <p:cNvSpPr txBox="1"/>
          <p:nvPr/>
        </p:nvSpPr>
        <p:spPr>
          <a:xfrm>
            <a:off x="502920" y="548640"/>
            <a:ext cx="11155680" cy="585216"/>
          </a:xfrm>
          <a:prstGeom prst="rect">
            <a:avLst/>
          </a:prstGeom>
          <a:noFill/>
        </p:spPr>
        <p:txBody>
          <a:bodyPr wrap="square" lIns="0" rIns="0" tIns="0" bIns="0">
            <a:noAutofit/>
          </a:bodyPr>
          <a:lstStyle/>
          <a:p>
            <a:pPr algn="l"/>
            <a:r>
              <a:rPr sz="2900" b="1" i="0">
                <a:solidFill>
                  <a:srgbClr val="0A2A5E"/>
                </a:solidFill>
                <a:latin typeface="Arial"/>
              </a:rPr>
              <a:t>Sources</a:t>
            </a:r>
          </a:p>
        </p:txBody>
      </p:sp>
      <p:sp>
        <p:nvSpPr>
          <p:cNvPr id="4" name="Rectangle 3"/>
          <p:cNvSpPr/>
          <p:nvPr/>
        </p:nvSpPr>
        <p:spPr>
          <a:xfrm>
            <a:off x="521207" y="1188720"/>
            <a:ext cx="1371600" cy="50292"/>
          </a:xfrm>
          <a:prstGeom prst="rect">
            <a:avLst/>
          </a:prstGeom>
          <a:solidFill>
            <a:srgbClr val="D60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19672"/>
            <a:ext cx="5943600" cy="237744"/>
          </a:xfrm>
          <a:prstGeom prst="rect">
            <a:avLst/>
          </a:prstGeom>
          <a:noFill/>
        </p:spPr>
        <p:txBody>
          <a:bodyPr wrap="square" lIns="0" rIns="0" tIns="0" bIns="0">
            <a:noAutofit/>
          </a:bodyPr>
          <a:lstStyle/>
          <a:p>
            <a:pPr algn="l"/>
            <a:r>
              <a:rPr sz="900" b="0" i="0">
                <a:solidFill>
                  <a:srgbClr val="5A6270"/>
                </a:solidFill>
                <a:latin typeface="Arial"/>
              </a:rPr>
              <a:t>My Agency Game Plan — Presentation 2026</a:t>
            </a:r>
          </a:p>
        </p:txBody>
      </p:sp>
      <p:sp>
        <p:nvSpPr>
          <p:cNvPr id="6" name="TextBox 5"/>
          <p:cNvSpPr txBox="1"/>
          <p:nvPr/>
        </p:nvSpPr>
        <p:spPr>
          <a:xfrm>
            <a:off x="6400800" y="6519672"/>
            <a:ext cx="5285232" cy="237744"/>
          </a:xfrm>
          <a:prstGeom prst="rect">
            <a:avLst/>
          </a:prstGeom>
          <a:noFill/>
        </p:spPr>
        <p:txBody>
          <a:bodyPr wrap="square" lIns="0" rIns="0" tIns="0" bIns="0">
            <a:noAutofit/>
          </a:bodyPr>
          <a:lstStyle/>
          <a:p>
            <a:pPr algn="r"/>
            <a:r>
              <a:rPr sz="900" b="0" i="0">
                <a:solidFill>
                  <a:srgbClr val="5A6270"/>
                </a:solidFill>
                <a:latin typeface="Arial"/>
              </a:rPr>
              <a:t>Agency Builder Onboarding Program</a:t>
            </a:r>
          </a:p>
        </p:txBody>
      </p:sp>
      <p:sp>
        <p:nvSpPr>
          <p:cNvPr id="7" name="TextBox 6"/>
          <p:cNvSpPr txBox="1"/>
          <p:nvPr/>
        </p:nvSpPr>
        <p:spPr>
          <a:xfrm>
            <a:off x="502920" y="1371600"/>
            <a:ext cx="11155680" cy="365760"/>
          </a:xfrm>
          <a:prstGeom prst="rect">
            <a:avLst/>
          </a:prstGeom>
          <a:noFill/>
        </p:spPr>
        <p:txBody>
          <a:bodyPr wrap="square" lIns="0" rIns="0" tIns="0" bIns="0">
            <a:noAutofit/>
          </a:bodyPr>
          <a:lstStyle/>
          <a:p>
            <a:pPr algn="l"/>
            <a:r>
              <a:rPr sz="1250" b="0" i="1">
                <a:solidFill>
                  <a:srgbClr val="5A6270"/>
                </a:solidFill>
                <a:latin typeface="Arial"/>
              </a:rPr>
              <a:t>Identify your sources — e.g., social media platforms, family, friends, referrals, etc.</a:t>
            </a:r>
          </a:p>
        </p:txBody>
      </p:sp>
      <p:sp>
        <p:nvSpPr>
          <p:cNvPr id="8" name="Rounded Rectangle 7"/>
          <p:cNvSpPr/>
          <p:nvPr/>
        </p:nvSpPr>
        <p:spPr>
          <a:xfrm>
            <a:off x="502920" y="1874519"/>
            <a:ext cx="3657600" cy="1920240"/>
          </a:xfrm>
          <a:prstGeom prst="roundRect">
            <a:avLst>
              <a:gd name="adj" fmla="val 5000"/>
            </a:avLst>
          </a:prstGeom>
          <a:solidFill>
            <a:srgbClr val="FFFFFF"/>
          </a:solidFill>
          <a:ln w="12700">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74519"/>
            <a:ext cx="82296" cy="1920240"/>
          </a:xfrm>
          <a:prstGeom prst="rect">
            <a:avLst/>
          </a:prstGeom>
          <a:solidFill>
            <a:srgbClr val="D60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075688"/>
            <a:ext cx="3200400" cy="365760"/>
          </a:xfrm>
          <a:prstGeom prst="rect">
            <a:avLst/>
          </a:prstGeom>
          <a:noFill/>
        </p:spPr>
        <p:txBody>
          <a:bodyPr wrap="square" lIns="0" rIns="0" tIns="0" bIns="0">
            <a:noAutofit/>
          </a:bodyPr>
          <a:lstStyle/>
          <a:p>
            <a:pPr algn="l"/>
            <a:r>
              <a:rPr sz="1400" b="1" i="0">
                <a:solidFill>
                  <a:srgbClr val="0A2A5E"/>
                </a:solidFill>
                <a:latin typeface="Arial"/>
              </a:rPr>
              <a:t>Warm Market</a:t>
            </a:r>
          </a:p>
        </p:txBody>
      </p:sp>
      <p:sp>
        <p:nvSpPr>
          <p:cNvPr id="11" name="TextBox 10"/>
          <p:cNvSpPr txBox="1"/>
          <p:nvPr/>
        </p:nvSpPr>
        <p:spPr>
          <a:xfrm>
            <a:off x="777240" y="2496312"/>
            <a:ext cx="3200400" cy="1188720"/>
          </a:xfrm>
          <a:prstGeom prst="rect">
            <a:avLst/>
          </a:prstGeom>
          <a:noFill/>
        </p:spPr>
        <p:txBody>
          <a:bodyPr wrap="square" lIns="0" rIns="0" tIns="0" bIns="0">
            <a:noAutofit/>
          </a:bodyPr>
          <a:lstStyle/>
          <a:p>
            <a:pPr algn="l">
              <a:lnSpc>
                <a:spcPct val="112000"/>
              </a:lnSpc>
            </a:pPr>
            <a:r>
              <a:rPr sz="1100" b="0" i="0">
                <a:solidFill>
                  <a:srgbClr val="21252B"/>
                </a:solidFill>
                <a:latin typeface="Arial"/>
              </a:rPr>
              <a:t>Family, relatives, friends, classmates, and neighbors — the first 50 names on my list.</a:t>
            </a:r>
          </a:p>
        </p:txBody>
      </p:sp>
      <p:sp>
        <p:nvSpPr>
          <p:cNvPr id="12" name="Rounded Rectangle 11"/>
          <p:cNvSpPr/>
          <p:nvPr/>
        </p:nvSpPr>
        <p:spPr>
          <a:xfrm>
            <a:off x="4261104" y="1874519"/>
            <a:ext cx="3657600" cy="1920240"/>
          </a:xfrm>
          <a:prstGeom prst="roundRect">
            <a:avLst>
              <a:gd name="adj" fmla="val 5000"/>
            </a:avLst>
          </a:prstGeom>
          <a:solidFill>
            <a:srgbClr val="FFFFFF"/>
          </a:solidFill>
          <a:ln w="12700">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61104" y="1874519"/>
            <a:ext cx="82296" cy="1920240"/>
          </a:xfrm>
          <a:prstGeom prst="rect">
            <a:avLst/>
          </a:prstGeom>
          <a:solidFill>
            <a:srgbClr val="D60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2075688"/>
            <a:ext cx="3200400" cy="365760"/>
          </a:xfrm>
          <a:prstGeom prst="rect">
            <a:avLst/>
          </a:prstGeom>
          <a:noFill/>
        </p:spPr>
        <p:txBody>
          <a:bodyPr wrap="square" lIns="0" rIns="0" tIns="0" bIns="0">
            <a:noAutofit/>
          </a:bodyPr>
          <a:lstStyle/>
          <a:p>
            <a:pPr algn="l"/>
            <a:r>
              <a:rPr sz="1400" b="1" i="0">
                <a:solidFill>
                  <a:srgbClr val="0A2A5E"/>
                </a:solidFill>
                <a:latin typeface="Arial"/>
              </a:rPr>
              <a:t>Client &amp; COI Referrals</a:t>
            </a:r>
          </a:p>
        </p:txBody>
      </p:sp>
      <p:sp>
        <p:nvSpPr>
          <p:cNvPr id="15" name="TextBox 14"/>
          <p:cNvSpPr txBox="1"/>
          <p:nvPr/>
        </p:nvSpPr>
        <p:spPr>
          <a:xfrm>
            <a:off x="4535424" y="2496312"/>
            <a:ext cx="3200400" cy="1188720"/>
          </a:xfrm>
          <a:prstGeom prst="rect">
            <a:avLst/>
          </a:prstGeom>
          <a:noFill/>
        </p:spPr>
        <p:txBody>
          <a:bodyPr wrap="square" lIns="0" rIns="0" tIns="0" bIns="0">
            <a:noAutofit/>
          </a:bodyPr>
          <a:lstStyle/>
          <a:p>
            <a:pPr algn="l">
              <a:lnSpc>
                <a:spcPct val="112000"/>
              </a:lnSpc>
            </a:pPr>
            <a:r>
              <a:rPr sz="1100" b="0" i="0">
                <a:solidFill>
                  <a:srgbClr val="21252B"/>
                </a:solidFill>
                <a:latin typeface="Arial"/>
              </a:rPr>
              <a:t>Ask for 2 names at every client meeting — doctors, bankers, business owners.</a:t>
            </a:r>
          </a:p>
        </p:txBody>
      </p:sp>
      <p:sp>
        <p:nvSpPr>
          <p:cNvPr id="16" name="Rounded Rectangle 15"/>
          <p:cNvSpPr/>
          <p:nvPr/>
        </p:nvSpPr>
        <p:spPr>
          <a:xfrm>
            <a:off x="8019288" y="1874519"/>
            <a:ext cx="3657600" cy="1920240"/>
          </a:xfrm>
          <a:prstGeom prst="roundRect">
            <a:avLst>
              <a:gd name="adj" fmla="val 5000"/>
            </a:avLst>
          </a:prstGeom>
          <a:solidFill>
            <a:srgbClr val="FFFFFF"/>
          </a:solidFill>
          <a:ln w="12700">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19288" y="1874519"/>
            <a:ext cx="82296" cy="1920240"/>
          </a:xfrm>
          <a:prstGeom prst="rect">
            <a:avLst/>
          </a:prstGeom>
          <a:solidFill>
            <a:srgbClr val="D60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2075688"/>
            <a:ext cx="3200400" cy="365760"/>
          </a:xfrm>
          <a:prstGeom prst="rect">
            <a:avLst/>
          </a:prstGeom>
          <a:noFill/>
        </p:spPr>
        <p:txBody>
          <a:bodyPr wrap="square" lIns="0" rIns="0" tIns="0" bIns="0">
            <a:noAutofit/>
          </a:bodyPr>
          <a:lstStyle/>
          <a:p>
            <a:pPr algn="l"/>
            <a:r>
              <a:rPr sz="1400" b="1" i="0">
                <a:solidFill>
                  <a:srgbClr val="0A2A5E"/>
                </a:solidFill>
                <a:latin typeface="Arial"/>
              </a:rPr>
              <a:t>Social Media</a:t>
            </a:r>
          </a:p>
        </p:txBody>
      </p:sp>
      <p:sp>
        <p:nvSpPr>
          <p:cNvPr id="19" name="TextBox 18"/>
          <p:cNvSpPr txBox="1"/>
          <p:nvPr/>
        </p:nvSpPr>
        <p:spPr>
          <a:xfrm>
            <a:off x="8293608" y="2496312"/>
            <a:ext cx="3200400" cy="1188720"/>
          </a:xfrm>
          <a:prstGeom prst="rect">
            <a:avLst/>
          </a:prstGeom>
          <a:noFill/>
        </p:spPr>
        <p:txBody>
          <a:bodyPr wrap="square" lIns="0" rIns="0" tIns="0" bIns="0">
            <a:noAutofit/>
          </a:bodyPr>
          <a:lstStyle/>
          <a:p>
            <a:pPr algn="l">
              <a:lnSpc>
                <a:spcPct val="112000"/>
              </a:lnSpc>
            </a:pPr>
            <a:r>
              <a:rPr sz="1100" b="0" i="0">
                <a:solidFill>
                  <a:srgbClr val="21252B"/>
                </a:solidFill>
                <a:latin typeface="Arial"/>
              </a:rPr>
              <a:t>Facebook, Instagram, LinkedIn, TikTok — 3 career posts and daily stories.</a:t>
            </a:r>
          </a:p>
        </p:txBody>
      </p:sp>
      <p:sp>
        <p:nvSpPr>
          <p:cNvPr id="20" name="Rounded Rectangle 19"/>
          <p:cNvSpPr/>
          <p:nvPr/>
        </p:nvSpPr>
        <p:spPr>
          <a:xfrm>
            <a:off x="502920" y="3977639"/>
            <a:ext cx="3657600" cy="1920240"/>
          </a:xfrm>
          <a:prstGeom prst="roundRect">
            <a:avLst>
              <a:gd name="adj" fmla="val 5000"/>
            </a:avLst>
          </a:prstGeom>
          <a:solidFill>
            <a:srgbClr val="FFFFFF"/>
          </a:solidFill>
          <a:ln w="12700">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3977639"/>
            <a:ext cx="82296" cy="1920240"/>
          </a:xfrm>
          <a:prstGeom prst="rect">
            <a:avLst/>
          </a:prstGeom>
          <a:solidFill>
            <a:srgbClr val="D60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178807"/>
            <a:ext cx="3200400" cy="365760"/>
          </a:xfrm>
          <a:prstGeom prst="rect">
            <a:avLst/>
          </a:prstGeom>
          <a:noFill/>
        </p:spPr>
        <p:txBody>
          <a:bodyPr wrap="square" lIns="0" rIns="0" tIns="0" bIns="0">
            <a:noAutofit/>
          </a:bodyPr>
          <a:lstStyle/>
          <a:p>
            <a:pPr algn="l"/>
            <a:r>
              <a:rPr sz="1400" b="1" i="0">
                <a:solidFill>
                  <a:srgbClr val="0A2A5E"/>
                </a:solidFill>
                <a:latin typeface="Arial"/>
              </a:rPr>
              <a:t>Community &amp; Orgs</a:t>
            </a:r>
          </a:p>
        </p:txBody>
      </p:sp>
      <p:sp>
        <p:nvSpPr>
          <p:cNvPr id="23" name="TextBox 22"/>
          <p:cNvSpPr txBox="1"/>
          <p:nvPr/>
        </p:nvSpPr>
        <p:spPr>
          <a:xfrm>
            <a:off x="777240" y="4599431"/>
            <a:ext cx="3200400" cy="1188720"/>
          </a:xfrm>
          <a:prstGeom prst="rect">
            <a:avLst/>
          </a:prstGeom>
          <a:noFill/>
        </p:spPr>
        <p:txBody>
          <a:bodyPr wrap="square" lIns="0" rIns="0" tIns="0" bIns="0">
            <a:noAutofit/>
          </a:bodyPr>
          <a:lstStyle/>
          <a:p>
            <a:pPr algn="l">
              <a:lnSpc>
                <a:spcPct val="112000"/>
              </a:lnSpc>
            </a:pPr>
            <a:r>
              <a:rPr sz="1100" b="0" i="0">
                <a:solidFill>
                  <a:srgbClr val="21252B"/>
                </a:solidFill>
                <a:latin typeface="Arial"/>
              </a:rPr>
              <a:t>Church, alumni association, barangay groups, and business associations.</a:t>
            </a:r>
          </a:p>
        </p:txBody>
      </p:sp>
      <p:sp>
        <p:nvSpPr>
          <p:cNvPr id="24" name="Rounded Rectangle 23"/>
          <p:cNvSpPr/>
          <p:nvPr/>
        </p:nvSpPr>
        <p:spPr>
          <a:xfrm>
            <a:off x="4261104" y="3977639"/>
            <a:ext cx="3657600" cy="1920240"/>
          </a:xfrm>
          <a:prstGeom prst="roundRect">
            <a:avLst>
              <a:gd name="adj" fmla="val 5000"/>
            </a:avLst>
          </a:prstGeom>
          <a:solidFill>
            <a:srgbClr val="FFFFFF"/>
          </a:solidFill>
          <a:ln w="12700">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3977639"/>
            <a:ext cx="82296" cy="1920240"/>
          </a:xfrm>
          <a:prstGeom prst="rect">
            <a:avLst/>
          </a:prstGeom>
          <a:solidFill>
            <a:srgbClr val="D60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35424" y="4178807"/>
            <a:ext cx="3200400" cy="365760"/>
          </a:xfrm>
          <a:prstGeom prst="rect">
            <a:avLst/>
          </a:prstGeom>
          <a:noFill/>
        </p:spPr>
        <p:txBody>
          <a:bodyPr wrap="square" lIns="0" rIns="0" tIns="0" bIns="0">
            <a:noAutofit/>
          </a:bodyPr>
          <a:lstStyle/>
          <a:p>
            <a:pPr algn="l"/>
            <a:r>
              <a:rPr sz="1400" b="1" i="0">
                <a:solidFill>
                  <a:srgbClr val="0A2A5E"/>
                </a:solidFill>
                <a:latin typeface="Arial"/>
              </a:rPr>
              <a:t>Past Career Network</a:t>
            </a:r>
          </a:p>
        </p:txBody>
      </p:sp>
      <p:sp>
        <p:nvSpPr>
          <p:cNvPr id="27" name="TextBox 26"/>
          <p:cNvSpPr txBox="1"/>
          <p:nvPr/>
        </p:nvSpPr>
        <p:spPr>
          <a:xfrm>
            <a:off x="4535424" y="4599431"/>
            <a:ext cx="3200400" cy="1188720"/>
          </a:xfrm>
          <a:prstGeom prst="rect">
            <a:avLst/>
          </a:prstGeom>
          <a:noFill/>
        </p:spPr>
        <p:txBody>
          <a:bodyPr wrap="square" lIns="0" rIns="0" tIns="0" bIns="0">
            <a:noAutofit/>
          </a:bodyPr>
          <a:lstStyle/>
          <a:p>
            <a:pPr algn="l">
              <a:lnSpc>
                <a:spcPct val="112000"/>
              </a:lnSpc>
            </a:pPr>
            <a:r>
              <a:rPr sz="1100" b="0" i="0">
                <a:solidFill>
                  <a:srgbClr val="21252B"/>
                </a:solidFill>
                <a:latin typeface="Arial"/>
              </a:rPr>
              <a:t>Ex-colleagues from BPO, sales, teaching, and banking who want more.</a:t>
            </a:r>
          </a:p>
        </p:txBody>
      </p:sp>
      <p:sp>
        <p:nvSpPr>
          <p:cNvPr id="28" name="Rounded Rectangle 27"/>
          <p:cNvSpPr/>
          <p:nvPr/>
        </p:nvSpPr>
        <p:spPr>
          <a:xfrm>
            <a:off x="8019288" y="3977639"/>
            <a:ext cx="3657600" cy="1920240"/>
          </a:xfrm>
          <a:prstGeom prst="roundRect">
            <a:avLst>
              <a:gd name="adj" fmla="val 5000"/>
            </a:avLst>
          </a:prstGeom>
          <a:solidFill>
            <a:srgbClr val="FFFFFF"/>
          </a:solidFill>
          <a:ln w="12700">
            <a:solidFill>
              <a:srgbClr val="D8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19288" y="3977639"/>
            <a:ext cx="82296" cy="1920240"/>
          </a:xfrm>
          <a:prstGeom prst="rect">
            <a:avLst/>
          </a:prstGeom>
          <a:solidFill>
            <a:srgbClr val="D60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93608" y="4178807"/>
            <a:ext cx="3200400" cy="365760"/>
          </a:xfrm>
          <a:prstGeom prst="rect">
            <a:avLst/>
          </a:prstGeom>
          <a:noFill/>
        </p:spPr>
        <p:txBody>
          <a:bodyPr wrap="square" lIns="0" rIns="0" tIns="0" bIns="0">
            <a:noAutofit/>
          </a:bodyPr>
          <a:lstStyle/>
          <a:p>
            <a:pPr algn="l"/>
            <a:r>
              <a:rPr sz="1400" b="1" i="0">
                <a:solidFill>
                  <a:srgbClr val="0A2A5E"/>
                </a:solidFill>
                <a:latin typeface="Arial"/>
              </a:rPr>
              <a:t>AXA Discovery Day</a:t>
            </a:r>
          </a:p>
        </p:txBody>
      </p:sp>
      <p:sp>
        <p:nvSpPr>
          <p:cNvPr id="31" name="TextBox 30"/>
          <p:cNvSpPr txBox="1"/>
          <p:nvPr/>
        </p:nvSpPr>
        <p:spPr>
          <a:xfrm>
            <a:off x="8293608" y="4599431"/>
            <a:ext cx="3200400" cy="1188720"/>
          </a:xfrm>
          <a:prstGeom prst="rect">
            <a:avLst/>
          </a:prstGeom>
          <a:noFill/>
        </p:spPr>
        <p:txBody>
          <a:bodyPr wrap="square" lIns="0" rIns="0" tIns="0" bIns="0">
            <a:noAutofit/>
          </a:bodyPr>
          <a:lstStyle/>
          <a:p>
            <a:pPr algn="l">
              <a:lnSpc>
                <a:spcPct val="112000"/>
              </a:lnSpc>
            </a:pPr>
            <a:r>
              <a:rPr sz="1100" b="0" i="0">
                <a:solidFill>
                  <a:srgbClr val="21252B"/>
                </a:solidFill>
                <a:latin typeface="Arial"/>
              </a:rPr>
              <a:t>Invite 2 guests per run; convert every attendee to a coffee chat.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21207" y="274320"/>
            <a:ext cx="11155680" cy="292608"/>
          </a:xfrm>
          <a:prstGeom prst="rect">
            <a:avLst/>
          </a:prstGeom>
          <a:noFill/>
        </p:spPr>
        <p:txBody>
          <a:bodyPr wrap="square" lIns="0" rIns="0" tIns="0" bIns="0">
            <a:noAutofit/>
          </a:bodyPr>
          <a:lstStyle/>
          <a:p>
            <a:pPr algn="l"/>
            <a:r>
              <a:rPr sz="1300" b="1" i="0">
                <a:solidFill>
                  <a:srgbClr val="D6001C"/>
                </a:solidFill>
                <a:latin typeface="Arial"/>
              </a:rPr>
              <a:t>RECRUITMENT PLAN</a:t>
            </a:r>
          </a:p>
        </p:txBody>
      </p:sp>
      <p:sp>
        <p:nvSpPr>
          <p:cNvPr id="3" name="TextBox 2"/>
          <p:cNvSpPr txBox="1"/>
          <p:nvPr/>
        </p:nvSpPr>
        <p:spPr>
          <a:xfrm>
            <a:off x="502920" y="548640"/>
            <a:ext cx="11155680" cy="585216"/>
          </a:xfrm>
          <a:prstGeom prst="rect">
            <a:avLst/>
          </a:prstGeom>
          <a:noFill/>
        </p:spPr>
        <p:txBody>
          <a:bodyPr wrap="square" lIns="0" rIns="0" tIns="0" bIns="0">
            <a:noAutofit/>
          </a:bodyPr>
          <a:lstStyle/>
          <a:p>
            <a:pPr algn="l"/>
            <a:r>
              <a:rPr sz="2900" b="1" i="0">
                <a:solidFill>
                  <a:srgbClr val="0A2A5E"/>
                </a:solidFill>
                <a:latin typeface="Arial"/>
              </a:rPr>
              <a:t>Recruitment Activities</a:t>
            </a:r>
          </a:p>
        </p:txBody>
      </p:sp>
      <p:sp>
        <p:nvSpPr>
          <p:cNvPr id="4" name="Rectangle 3"/>
          <p:cNvSpPr/>
          <p:nvPr/>
        </p:nvSpPr>
        <p:spPr>
          <a:xfrm>
            <a:off x="521207" y="1188720"/>
            <a:ext cx="1371600" cy="50292"/>
          </a:xfrm>
          <a:prstGeom prst="rect">
            <a:avLst/>
          </a:prstGeom>
          <a:solidFill>
            <a:srgbClr val="D60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19672"/>
            <a:ext cx="5943600" cy="237744"/>
          </a:xfrm>
          <a:prstGeom prst="rect">
            <a:avLst/>
          </a:prstGeom>
          <a:noFill/>
        </p:spPr>
        <p:txBody>
          <a:bodyPr wrap="square" lIns="0" rIns="0" tIns="0" bIns="0">
            <a:noAutofit/>
          </a:bodyPr>
          <a:lstStyle/>
          <a:p>
            <a:pPr algn="l"/>
            <a:r>
              <a:rPr sz="900" b="0" i="0">
                <a:solidFill>
                  <a:srgbClr val="5A6270"/>
                </a:solidFill>
                <a:latin typeface="Arial"/>
              </a:rPr>
              <a:t>My Agency Game Plan — Presentation 2026</a:t>
            </a:r>
          </a:p>
        </p:txBody>
      </p:sp>
      <p:sp>
        <p:nvSpPr>
          <p:cNvPr id="6" name="TextBox 5"/>
          <p:cNvSpPr txBox="1"/>
          <p:nvPr/>
        </p:nvSpPr>
        <p:spPr>
          <a:xfrm>
            <a:off x="6400800" y="6519672"/>
            <a:ext cx="5285232" cy="237744"/>
          </a:xfrm>
          <a:prstGeom prst="rect">
            <a:avLst/>
          </a:prstGeom>
          <a:noFill/>
        </p:spPr>
        <p:txBody>
          <a:bodyPr wrap="square" lIns="0" rIns="0" tIns="0" bIns="0">
            <a:noAutofit/>
          </a:bodyPr>
          <a:lstStyle/>
          <a:p>
            <a:pPr algn="r"/>
            <a:r>
              <a:rPr sz="900" b="0" i="0">
                <a:solidFill>
                  <a:srgbClr val="5A6270"/>
                </a:solidFill>
                <a:latin typeface="Arial"/>
              </a:rPr>
              <a:t>Agency Builder Onboarding Program</a:t>
            </a:r>
          </a:p>
        </p:txBody>
      </p:sp>
      <p:sp>
        <p:nvSpPr>
          <p:cNvPr id="7" name="TextBox 6"/>
          <p:cNvSpPr txBox="1"/>
          <p:nvPr/>
        </p:nvSpPr>
        <p:spPr>
          <a:xfrm>
            <a:off x="502920" y="1353312"/>
            <a:ext cx="11155680" cy="365760"/>
          </a:xfrm>
          <a:prstGeom prst="rect">
            <a:avLst/>
          </a:prstGeom>
          <a:noFill/>
        </p:spPr>
        <p:txBody>
          <a:bodyPr wrap="square" lIns="0" rIns="0" tIns="0" bIns="0">
            <a:noAutofit/>
          </a:bodyPr>
          <a:lstStyle/>
          <a:p>
            <a:pPr algn="l"/>
            <a:r>
              <a:rPr sz="1250" b="0" i="1">
                <a:solidFill>
                  <a:srgbClr val="5A6270"/>
                </a:solidFill>
                <a:latin typeface="Arial"/>
              </a:rPr>
              <a:t>The specific actions I will regularly do to attract, engage, and meet potential candidates:</a:t>
            </a:r>
          </a:p>
        </p:txBody>
      </p:sp>
      <p:graphicFrame>
        <p:nvGraphicFramePr>
          <p:cNvPr id="8" name="Table 7"/>
          <p:cNvGraphicFramePr>
            <a:graphicFrameLocks noGrp="1"/>
          </p:cNvGraphicFramePr>
          <p:nvPr/>
        </p:nvGraphicFramePr>
        <p:xfrm>
          <a:off x="502920" y="1828800"/>
          <a:ext cx="11183111" cy="4023360"/>
        </p:xfrm>
        <a:graphic>
          <a:graphicData uri="http://schemas.openxmlformats.org/drawingml/2006/table">
            <a:tbl>
              <a:tblPr>
                <a:tableStyleId>{5C22544A-7EE6-4342-B048-85BDC9FD1C3A}</a:tableStyleId>
              </a:tblPr>
              <a:tblGrid>
                <a:gridCol w="4233672"/>
                <a:gridCol w="3749039"/>
                <a:gridCol w="3200400"/>
              </a:tblGrid>
              <a:tr h="438912">
                <a:tc>
                  <a:txBody>
                    <a:bodyPr wrap="square"/>
                    <a:lstStyle/>
                    <a:p>
                      <a:pPr algn="l"/>
                      <a:r>
                        <a:rPr sz="1250" b="1">
                          <a:solidFill>
                            <a:srgbClr val="FFFFFF"/>
                          </a:solidFill>
                          <a:latin typeface="Arial"/>
                        </a:rPr>
                        <a:t>Activity</a:t>
                      </a:r>
                    </a:p>
                  </a:txBody>
                  <a:tcPr anchor="ctr" marL="73152" marR="54864" marT="27432" marB="27432">
                    <a:solidFill>
                      <a:srgbClr val="0A2A5E"/>
                    </a:solidFill>
                  </a:tcPr>
                </a:tc>
                <a:tc>
                  <a:txBody>
                    <a:bodyPr wrap="square"/>
                    <a:lstStyle/>
                    <a:p>
                      <a:pPr algn="l"/>
                      <a:r>
                        <a:rPr sz="1250" b="1">
                          <a:solidFill>
                            <a:srgbClr val="FFFFFF"/>
                          </a:solidFill>
                          <a:latin typeface="Arial"/>
                        </a:rPr>
                        <a:t>Frequency</a:t>
                      </a:r>
                    </a:p>
                  </a:txBody>
                  <a:tcPr anchor="ctr" marL="73152" marR="54864" marT="27432" marB="27432">
                    <a:solidFill>
                      <a:srgbClr val="0A2A5E"/>
                    </a:solidFill>
                  </a:tcPr>
                </a:tc>
                <a:tc>
                  <a:txBody>
                    <a:bodyPr wrap="square"/>
                    <a:lstStyle/>
                    <a:p>
                      <a:pPr algn="l"/>
                      <a:r>
                        <a:rPr sz="1250" b="1">
                          <a:solidFill>
                            <a:srgbClr val="FFFFFF"/>
                          </a:solidFill>
                          <a:latin typeface="Arial"/>
                        </a:rPr>
                        <a:t>Measure of Success</a:t>
                      </a:r>
                    </a:p>
                  </a:txBody>
                  <a:tcPr anchor="ctr" marL="73152" marR="54864" marT="27432" marB="27432">
                    <a:solidFill>
                      <a:srgbClr val="0A2A5E"/>
                    </a:solidFill>
                  </a:tcPr>
                </a:tc>
              </a:tr>
              <a:tr h="512064">
                <a:tc>
                  <a:txBody>
                    <a:bodyPr wrap="square"/>
                    <a:lstStyle/>
                    <a:p>
                      <a:pPr algn="l"/>
                      <a:r>
                        <a:rPr sz="1150" b="1">
                          <a:solidFill>
                            <a:srgbClr val="21252B"/>
                          </a:solidFill>
                          <a:latin typeface="Arial"/>
                        </a:rPr>
                        <a:t>Set recruitment appointments</a:t>
                      </a:r>
                    </a:p>
                  </a:txBody>
                  <a:tcPr anchor="ctr" marL="73152" marR="54864" marT="27432" marB="27432">
                    <a:solidFill>
                      <a:srgbClr val="FFFFFF"/>
                    </a:solidFill>
                  </a:tcPr>
                </a:tc>
                <a:tc>
                  <a:txBody>
                    <a:bodyPr wrap="square"/>
                    <a:lstStyle/>
                    <a:p>
                      <a:pPr algn="l"/>
                      <a:r>
                        <a:rPr sz="1150" b="0">
                          <a:solidFill>
                            <a:srgbClr val="21252B"/>
                          </a:solidFill>
                          <a:latin typeface="Arial"/>
                        </a:rPr>
                        <a:t>30 mins a day [Mon to Sat]</a:t>
                      </a:r>
                    </a:p>
                  </a:txBody>
                  <a:tcPr anchor="ctr" marL="73152" marR="54864" marT="27432" marB="27432">
                    <a:solidFill>
                      <a:srgbClr val="FFFFFF"/>
                    </a:solidFill>
                  </a:tcPr>
                </a:tc>
                <a:tc>
                  <a:txBody>
                    <a:bodyPr wrap="square"/>
                    <a:lstStyle/>
                    <a:p>
                      <a:pPr algn="l"/>
                      <a:r>
                        <a:rPr sz="1150" b="0">
                          <a:solidFill>
                            <a:srgbClr val="0A2A5E"/>
                          </a:solidFill>
                          <a:latin typeface="Arial"/>
                        </a:rPr>
                        <a:t>10 per day</a:t>
                      </a:r>
                    </a:p>
                  </a:txBody>
                  <a:tcPr anchor="ctr" marL="73152" marR="54864" marT="27432" marB="27432">
                    <a:solidFill>
                      <a:srgbClr val="FFFFFF"/>
                    </a:solidFill>
                  </a:tcPr>
                </a:tc>
              </a:tr>
              <a:tr h="512064">
                <a:tc>
                  <a:txBody>
                    <a:bodyPr wrap="square"/>
                    <a:lstStyle/>
                    <a:p>
                      <a:pPr algn="l"/>
                      <a:r>
                        <a:rPr sz="1150" b="1">
                          <a:solidFill>
                            <a:srgbClr val="21252B"/>
                          </a:solidFill>
                          <a:latin typeface="Arial"/>
                        </a:rPr>
                        <a:t>Coffee chats with warm market</a:t>
                      </a:r>
                    </a:p>
                  </a:txBody>
                  <a:tcPr anchor="ctr" marL="73152" marR="54864" marT="27432" marB="27432">
                    <a:solidFill>
                      <a:srgbClr val="F2F4F8"/>
                    </a:solidFill>
                  </a:tcPr>
                </a:tc>
                <a:tc>
                  <a:txBody>
                    <a:bodyPr wrap="square"/>
                    <a:lstStyle/>
                    <a:p>
                      <a:pPr algn="l"/>
                      <a:r>
                        <a:rPr sz="1150" b="0">
                          <a:solidFill>
                            <a:srgbClr val="21252B"/>
                          </a:solidFill>
                          <a:latin typeface="Arial"/>
                        </a:rPr>
                        <a:t>5 invitations per day</a:t>
                      </a:r>
                    </a:p>
                  </a:txBody>
                  <a:tcPr anchor="ctr" marL="73152" marR="54864" marT="27432" marB="27432">
                    <a:solidFill>
                      <a:srgbClr val="F2F4F8"/>
                    </a:solidFill>
                  </a:tcPr>
                </a:tc>
                <a:tc>
                  <a:txBody>
                    <a:bodyPr wrap="square"/>
                    <a:lstStyle/>
                    <a:p>
                      <a:pPr algn="l"/>
                      <a:r>
                        <a:rPr sz="1150" b="0">
                          <a:solidFill>
                            <a:srgbClr val="0A2A5E"/>
                          </a:solidFill>
                          <a:latin typeface="Arial"/>
                        </a:rPr>
                        <a:t>25 invites per week</a:t>
                      </a:r>
                    </a:p>
                  </a:txBody>
                  <a:tcPr anchor="ctr" marL="73152" marR="54864" marT="27432" marB="27432">
                    <a:solidFill>
                      <a:srgbClr val="F2F4F8"/>
                    </a:solidFill>
                  </a:tcPr>
                </a:tc>
              </a:tr>
              <a:tr h="512064">
                <a:tc>
                  <a:txBody>
                    <a:bodyPr wrap="square"/>
                    <a:lstStyle/>
                    <a:p>
                      <a:pPr algn="l"/>
                      <a:r>
                        <a:rPr sz="1150" b="1">
                          <a:solidFill>
                            <a:srgbClr val="21252B"/>
                          </a:solidFill>
                          <a:latin typeface="Arial"/>
                        </a:rPr>
                        <a:t>Career posts &amp; stories</a:t>
                      </a:r>
                    </a:p>
                  </a:txBody>
                  <a:tcPr anchor="ctr" marL="73152" marR="54864" marT="27432" marB="27432">
                    <a:solidFill>
                      <a:srgbClr val="FFFFFF"/>
                    </a:solidFill>
                  </a:tcPr>
                </a:tc>
                <a:tc>
                  <a:txBody>
                    <a:bodyPr wrap="square"/>
                    <a:lstStyle/>
                    <a:p>
                      <a:pPr algn="l"/>
                      <a:r>
                        <a:rPr sz="1150" b="0">
                          <a:solidFill>
                            <a:srgbClr val="21252B"/>
                          </a:solidFill>
                          <a:latin typeface="Arial"/>
                        </a:rPr>
                        <a:t>3 posts per week (FB / IG / LinkedIn)</a:t>
                      </a:r>
                    </a:p>
                  </a:txBody>
                  <a:tcPr anchor="ctr" marL="73152" marR="54864" marT="27432" marB="27432">
                    <a:solidFill>
                      <a:srgbClr val="FFFFFF"/>
                    </a:solidFill>
                  </a:tcPr>
                </a:tc>
                <a:tc>
                  <a:txBody>
                    <a:bodyPr wrap="square"/>
                    <a:lstStyle/>
                    <a:p>
                      <a:pPr algn="l"/>
                      <a:r>
                        <a:rPr sz="1150" b="0">
                          <a:solidFill>
                            <a:srgbClr val="0A2A5E"/>
                          </a:solidFill>
                          <a:latin typeface="Arial"/>
                        </a:rPr>
                        <a:t>15 quality leads per month</a:t>
                      </a:r>
                    </a:p>
                  </a:txBody>
                  <a:tcPr anchor="ctr" marL="73152" marR="54864" marT="27432" marB="27432">
                    <a:solidFill>
                      <a:srgbClr val="FFFFFF"/>
                    </a:solidFill>
                  </a:tcPr>
                </a:tc>
              </a:tr>
              <a:tr h="512064">
                <a:tc>
                  <a:txBody>
                    <a:bodyPr wrap="square"/>
                    <a:lstStyle/>
                    <a:p>
                      <a:pPr algn="l"/>
                      <a:r>
                        <a:rPr sz="1150" b="1">
                          <a:solidFill>
                            <a:srgbClr val="21252B"/>
                          </a:solidFill>
                          <a:latin typeface="Arial"/>
                        </a:rPr>
                        <a:t>Referral asks</a:t>
                      </a:r>
                    </a:p>
                  </a:txBody>
                  <a:tcPr anchor="ctr" marL="73152" marR="54864" marT="27432" marB="27432">
                    <a:solidFill>
                      <a:srgbClr val="F2F4F8"/>
                    </a:solidFill>
                  </a:tcPr>
                </a:tc>
                <a:tc>
                  <a:txBody>
                    <a:bodyPr wrap="square"/>
                    <a:lstStyle/>
                    <a:p>
                      <a:pPr algn="l"/>
                      <a:r>
                        <a:rPr sz="1150" b="0">
                          <a:solidFill>
                            <a:srgbClr val="21252B"/>
                          </a:solidFill>
                          <a:latin typeface="Arial"/>
                        </a:rPr>
                        <a:t>At every client meeting</a:t>
                      </a:r>
                    </a:p>
                  </a:txBody>
                  <a:tcPr anchor="ctr" marL="73152" marR="54864" marT="27432" marB="27432">
                    <a:solidFill>
                      <a:srgbClr val="F2F4F8"/>
                    </a:solidFill>
                  </a:tcPr>
                </a:tc>
                <a:tc>
                  <a:txBody>
                    <a:bodyPr wrap="square"/>
                    <a:lstStyle/>
                    <a:p>
                      <a:pPr algn="l"/>
                      <a:r>
                        <a:rPr sz="1150" b="0">
                          <a:solidFill>
                            <a:srgbClr val="0A2A5E"/>
                          </a:solidFill>
                          <a:latin typeface="Arial"/>
                        </a:rPr>
                        <a:t>2 names per meeting</a:t>
                      </a:r>
                    </a:p>
                  </a:txBody>
                  <a:tcPr anchor="ctr" marL="73152" marR="54864" marT="27432" marB="27432">
                    <a:solidFill>
                      <a:srgbClr val="F2F4F8"/>
                    </a:solidFill>
                  </a:tcPr>
                </a:tc>
              </a:tr>
              <a:tr h="512064">
                <a:tc>
                  <a:txBody>
                    <a:bodyPr wrap="square"/>
                    <a:lstStyle/>
                    <a:p>
                      <a:pPr algn="l"/>
                      <a:r>
                        <a:rPr sz="1150" b="1">
                          <a:solidFill>
                            <a:srgbClr val="21252B"/>
                          </a:solidFill>
                          <a:latin typeface="Arial"/>
                        </a:rPr>
                        <a:t>Discovery Day guests</a:t>
                      </a:r>
                    </a:p>
                  </a:txBody>
                  <a:tcPr anchor="ctr" marL="73152" marR="54864" marT="27432" marB="27432">
                    <a:solidFill>
                      <a:srgbClr val="FFFFFF"/>
                    </a:solidFill>
                  </a:tcPr>
                </a:tc>
                <a:tc>
                  <a:txBody>
                    <a:bodyPr wrap="square"/>
                    <a:lstStyle/>
                    <a:p>
                      <a:pPr algn="l"/>
                      <a:r>
                        <a:rPr sz="1150" b="0">
                          <a:solidFill>
                            <a:srgbClr val="21252B"/>
                          </a:solidFill>
                          <a:latin typeface="Arial"/>
                        </a:rPr>
                        <a:t>2 guests per run (2× per month)</a:t>
                      </a:r>
                    </a:p>
                  </a:txBody>
                  <a:tcPr anchor="ctr" marL="73152" marR="54864" marT="27432" marB="27432">
                    <a:solidFill>
                      <a:srgbClr val="FFFFFF"/>
                    </a:solidFill>
                  </a:tcPr>
                </a:tc>
                <a:tc>
                  <a:txBody>
                    <a:bodyPr wrap="square"/>
                    <a:lstStyle/>
                    <a:p>
                      <a:pPr algn="l"/>
                      <a:r>
                        <a:rPr sz="1150" b="0">
                          <a:solidFill>
                            <a:srgbClr val="0A2A5E"/>
                          </a:solidFill>
                          <a:latin typeface="Arial"/>
                        </a:rPr>
                        <a:t>4 guests per month</a:t>
                      </a:r>
                    </a:p>
                  </a:txBody>
                  <a:tcPr anchor="ctr" marL="73152" marR="54864" marT="27432" marB="27432">
                    <a:solidFill>
                      <a:srgbClr val="FFFFFF"/>
                    </a:solidFill>
                  </a:tcPr>
                </a:tc>
              </a:tr>
              <a:tr h="512064">
                <a:tc>
                  <a:txBody>
                    <a:bodyPr wrap="square"/>
                    <a:lstStyle/>
                    <a:p>
                      <a:pPr algn="l"/>
                      <a:r>
                        <a:rPr sz="1150" b="1">
                          <a:solidFill>
                            <a:srgbClr val="21252B"/>
                          </a:solidFill>
                          <a:latin typeface="Arial"/>
                        </a:rPr>
                        <a:t>Candidate follow-ups</a:t>
                      </a:r>
                    </a:p>
                  </a:txBody>
                  <a:tcPr anchor="ctr" marL="73152" marR="54864" marT="27432" marB="27432">
                    <a:solidFill>
                      <a:srgbClr val="F2F4F8"/>
                    </a:solidFill>
                  </a:tcPr>
                </a:tc>
                <a:tc>
                  <a:txBody>
                    <a:bodyPr wrap="square"/>
                    <a:lstStyle/>
                    <a:p>
                      <a:pPr algn="l"/>
                      <a:r>
                        <a:rPr sz="1150" b="0">
                          <a:solidFill>
                            <a:srgbClr val="21252B"/>
                          </a:solidFill>
                          <a:latin typeface="Arial"/>
                        </a:rPr>
                        <a:t>Within 48 hours of first meeting</a:t>
                      </a:r>
                    </a:p>
                  </a:txBody>
                  <a:tcPr anchor="ctr" marL="73152" marR="54864" marT="27432" marB="27432">
                    <a:solidFill>
                      <a:srgbClr val="F2F4F8"/>
                    </a:solidFill>
                  </a:tcPr>
                </a:tc>
                <a:tc>
                  <a:txBody>
                    <a:bodyPr wrap="square"/>
                    <a:lstStyle/>
                    <a:p>
                      <a:pPr algn="l"/>
                      <a:r>
                        <a:rPr sz="1150" b="0">
                          <a:solidFill>
                            <a:srgbClr val="0A2A5E"/>
                          </a:solidFill>
                          <a:latin typeface="Arial"/>
                        </a:rPr>
                        <a:t>100% followed up</a:t>
                      </a:r>
                    </a:p>
                  </a:txBody>
                  <a:tcPr anchor="ctr" marL="73152" marR="54864" marT="27432" marB="27432">
                    <a:solidFill>
                      <a:srgbClr val="F2F4F8"/>
                    </a:solidFill>
                  </a:tcPr>
                </a:tc>
              </a:tr>
              <a:tr h="512064">
                <a:tc>
                  <a:txBody>
                    <a:bodyPr wrap="square"/>
                    <a:lstStyle/>
                    <a:p>
                      <a:pPr algn="l"/>
                      <a:r>
                        <a:rPr sz="1150" b="1">
                          <a:solidFill>
                            <a:srgbClr val="21252B"/>
                          </a:solidFill>
                          <a:latin typeface="Arial"/>
                        </a:rPr>
                        <a:t>Campus / community career talks</a:t>
                      </a:r>
                    </a:p>
                  </a:txBody>
                  <a:tcPr anchor="ctr" marL="73152" marR="54864" marT="27432" marB="27432">
                    <a:solidFill>
                      <a:srgbClr val="FFFFFF"/>
                    </a:solidFill>
                  </a:tcPr>
                </a:tc>
                <a:tc>
                  <a:txBody>
                    <a:bodyPr wrap="square"/>
                    <a:lstStyle/>
                    <a:p>
                      <a:pPr algn="l"/>
                      <a:r>
                        <a:rPr sz="1150" b="0">
                          <a:solidFill>
                            <a:srgbClr val="21252B"/>
                          </a:solidFill>
                          <a:latin typeface="Arial"/>
                        </a:rPr>
                        <a:t>1 talk per month</a:t>
                      </a:r>
                    </a:p>
                  </a:txBody>
                  <a:tcPr anchor="ctr" marL="73152" marR="54864" marT="27432" marB="27432">
                    <a:solidFill>
                      <a:srgbClr val="FFFFFF"/>
                    </a:solidFill>
                  </a:tcPr>
                </a:tc>
                <a:tc>
                  <a:txBody>
                    <a:bodyPr wrap="square"/>
                    <a:lstStyle/>
                    <a:p>
                      <a:pPr algn="l"/>
                      <a:r>
                        <a:rPr sz="1150" b="0">
                          <a:solidFill>
                            <a:srgbClr val="0A2A5E"/>
                          </a:solidFill>
                          <a:latin typeface="Arial"/>
                        </a:rPr>
                        <a:t>20 attendees per month</a:t>
                      </a:r>
                    </a:p>
                  </a:txBody>
                  <a:tcPr anchor="ctr" marL="73152" marR="54864" marT="27432" marB="2743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1E42"/>
        </a:solidFill>
        <a:effectLst/>
      </p:bgPr>
    </p:bg>
    <p:spTree>
      <p:nvGrpSpPr>
        <p:cNvPr id="1" name=""/>
        <p:cNvGrpSpPr/>
        <p:nvPr/>
      </p:nvGrpSpPr>
      <p:grpSpPr/>
      <p:sp>
        <p:nvSpPr>
          <p:cNvPr id="2" name="Rectangle 1"/>
          <p:cNvSpPr/>
          <p:nvPr/>
        </p:nvSpPr>
        <p:spPr>
          <a:xfrm>
            <a:off x="5641848" y="2212848"/>
            <a:ext cx="914400" cy="64008"/>
          </a:xfrm>
          <a:prstGeom prst="rect">
            <a:avLst/>
          </a:prstGeom>
          <a:solidFill>
            <a:srgbClr val="D60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1188720"/>
          </a:xfrm>
          <a:prstGeom prst="rect">
            <a:avLst/>
          </a:prstGeom>
          <a:noFill/>
        </p:spPr>
        <p:txBody>
          <a:bodyPr wrap="square" lIns="0" rIns="0" tIns="0" bIns="0">
            <a:noAutofit/>
          </a:bodyPr>
          <a:lstStyle/>
          <a:p>
            <a:pPr algn="ctr"/>
            <a:r>
              <a:rPr sz="6600" b="1" i="0">
                <a:solidFill>
                  <a:srgbClr val="FFFFFF"/>
                </a:solidFill>
                <a:latin typeface="Arial"/>
              </a:rPr>
              <a:t>BREAK</a:t>
            </a:r>
          </a:p>
        </p:txBody>
      </p:sp>
      <p:sp>
        <p:nvSpPr>
          <p:cNvPr id="4" name="TextBox 3"/>
          <p:cNvSpPr txBox="1"/>
          <p:nvPr/>
        </p:nvSpPr>
        <p:spPr>
          <a:xfrm>
            <a:off x="457200" y="3886200"/>
            <a:ext cx="11274552" cy="457200"/>
          </a:xfrm>
          <a:prstGeom prst="rect">
            <a:avLst/>
          </a:prstGeom>
          <a:noFill/>
        </p:spPr>
        <p:txBody>
          <a:bodyPr wrap="square" lIns="0" rIns="0" tIns="0" bIns="0">
            <a:noAutofit/>
          </a:bodyPr>
          <a:lstStyle/>
          <a:p>
            <a:pPr algn="ctr"/>
            <a:r>
              <a:rPr sz="1600" b="0" i="0">
                <a:solidFill>
                  <a:srgbClr val="B9C4D6"/>
                </a:solidFill>
                <a:latin typeface="Arial"/>
              </a:rPr>
              <a:t>Back in 15 minutes.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21207" y="274320"/>
            <a:ext cx="11155680" cy="292608"/>
          </a:xfrm>
          <a:prstGeom prst="rect">
            <a:avLst/>
          </a:prstGeom>
          <a:noFill/>
        </p:spPr>
        <p:txBody>
          <a:bodyPr wrap="square" lIns="0" rIns="0" tIns="0" bIns="0">
            <a:noAutofit/>
          </a:bodyPr>
          <a:lstStyle/>
          <a:p>
            <a:pPr algn="l"/>
            <a:r>
              <a:rPr sz="1300" b="1" i="0">
                <a:solidFill>
                  <a:srgbClr val="D6001C"/>
                </a:solidFill>
                <a:latin typeface="Arial"/>
              </a:rPr>
              <a:t>ACTIVATION PLAN</a:t>
            </a:r>
          </a:p>
        </p:txBody>
      </p:sp>
      <p:sp>
        <p:nvSpPr>
          <p:cNvPr id="3" name="TextBox 2"/>
          <p:cNvSpPr txBox="1"/>
          <p:nvPr/>
        </p:nvSpPr>
        <p:spPr>
          <a:xfrm>
            <a:off x="502920" y="548640"/>
            <a:ext cx="11155680" cy="585216"/>
          </a:xfrm>
          <a:prstGeom prst="rect">
            <a:avLst/>
          </a:prstGeom>
          <a:noFill/>
        </p:spPr>
        <p:txBody>
          <a:bodyPr wrap="square" lIns="0" rIns="0" tIns="0" bIns="0">
            <a:noAutofit/>
          </a:bodyPr>
          <a:lstStyle/>
          <a:p>
            <a:pPr algn="l"/>
            <a:r>
              <a:rPr sz="2900" b="1" i="0">
                <a:solidFill>
                  <a:srgbClr val="0A2A5E"/>
                </a:solidFill>
                <a:latin typeface="Arial"/>
              </a:rPr>
              <a:t>Activation Plan</a:t>
            </a:r>
          </a:p>
        </p:txBody>
      </p:sp>
      <p:sp>
        <p:nvSpPr>
          <p:cNvPr id="4" name="Rectangle 3"/>
          <p:cNvSpPr/>
          <p:nvPr/>
        </p:nvSpPr>
        <p:spPr>
          <a:xfrm>
            <a:off x="521207" y="1188720"/>
            <a:ext cx="1371600" cy="50292"/>
          </a:xfrm>
          <a:prstGeom prst="rect">
            <a:avLst/>
          </a:prstGeom>
          <a:solidFill>
            <a:srgbClr val="D60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19672"/>
            <a:ext cx="5943600" cy="237744"/>
          </a:xfrm>
          <a:prstGeom prst="rect">
            <a:avLst/>
          </a:prstGeom>
          <a:noFill/>
        </p:spPr>
        <p:txBody>
          <a:bodyPr wrap="square" lIns="0" rIns="0" tIns="0" bIns="0">
            <a:noAutofit/>
          </a:bodyPr>
          <a:lstStyle/>
          <a:p>
            <a:pPr algn="l"/>
            <a:r>
              <a:rPr sz="900" b="0" i="0">
                <a:solidFill>
                  <a:srgbClr val="5A6270"/>
                </a:solidFill>
                <a:latin typeface="Arial"/>
              </a:rPr>
              <a:t>My Agency Game Plan — Presentation 2026</a:t>
            </a:r>
          </a:p>
        </p:txBody>
      </p:sp>
      <p:sp>
        <p:nvSpPr>
          <p:cNvPr id="6" name="TextBox 5"/>
          <p:cNvSpPr txBox="1"/>
          <p:nvPr/>
        </p:nvSpPr>
        <p:spPr>
          <a:xfrm>
            <a:off x="6400800" y="6519672"/>
            <a:ext cx="5285232" cy="237744"/>
          </a:xfrm>
          <a:prstGeom prst="rect">
            <a:avLst/>
          </a:prstGeom>
          <a:noFill/>
        </p:spPr>
        <p:txBody>
          <a:bodyPr wrap="square" lIns="0" rIns="0" tIns="0" bIns="0">
            <a:noAutofit/>
          </a:bodyPr>
          <a:lstStyle/>
          <a:p>
            <a:pPr algn="r"/>
            <a:r>
              <a:rPr sz="900" b="0" i="0">
                <a:solidFill>
                  <a:srgbClr val="5A6270"/>
                </a:solidFill>
                <a:latin typeface="Arial"/>
              </a:rPr>
              <a:t>Agency Builder Onboarding Program</a:t>
            </a:r>
          </a:p>
        </p:txBody>
      </p:sp>
      <p:sp>
        <p:nvSpPr>
          <p:cNvPr id="7" name="TextBox 6"/>
          <p:cNvSpPr txBox="1"/>
          <p:nvPr/>
        </p:nvSpPr>
        <p:spPr>
          <a:xfrm>
            <a:off x="502920" y="1353312"/>
            <a:ext cx="11155680" cy="365760"/>
          </a:xfrm>
          <a:prstGeom prst="rect">
            <a:avLst/>
          </a:prstGeom>
          <a:noFill/>
        </p:spPr>
        <p:txBody>
          <a:bodyPr wrap="square" lIns="0" rIns="0" tIns="0" bIns="0">
            <a:noAutofit/>
          </a:bodyPr>
          <a:lstStyle/>
          <a:p>
            <a:pPr algn="l"/>
            <a:r>
              <a:rPr sz="1250" b="0" i="1">
                <a:solidFill>
                  <a:srgbClr val="5A6270"/>
                </a:solidFill>
                <a:latin typeface="Arial"/>
              </a:rPr>
              <a:t>How I will train, coach, and retain every recruit — especially in their first 90 days:</a:t>
            </a:r>
          </a:p>
        </p:txBody>
      </p:sp>
      <p:graphicFrame>
        <p:nvGraphicFramePr>
          <p:cNvPr id="8" name="Table 7"/>
          <p:cNvGraphicFramePr>
            <a:graphicFrameLocks noGrp="1"/>
          </p:cNvGraphicFramePr>
          <p:nvPr/>
        </p:nvGraphicFramePr>
        <p:xfrm>
          <a:off x="502920" y="1828800"/>
          <a:ext cx="11183111" cy="4023360"/>
        </p:xfrm>
        <a:graphic>
          <a:graphicData uri="http://schemas.openxmlformats.org/drawingml/2006/table">
            <a:tbl>
              <a:tblPr>
                <a:tableStyleId>{5C22544A-7EE6-4342-B048-85BDC9FD1C3A}</a:tableStyleId>
              </a:tblPr>
              <a:tblGrid>
                <a:gridCol w="4233672"/>
                <a:gridCol w="3749039"/>
                <a:gridCol w="3200400"/>
              </a:tblGrid>
              <a:tr h="438912">
                <a:tc>
                  <a:txBody>
                    <a:bodyPr wrap="square"/>
                    <a:lstStyle/>
                    <a:p>
                      <a:pPr algn="l"/>
                      <a:r>
                        <a:rPr sz="1250" b="1">
                          <a:solidFill>
                            <a:srgbClr val="FFFFFF"/>
                          </a:solidFill>
                          <a:latin typeface="Arial"/>
                        </a:rPr>
                        <a:t>Activity</a:t>
                      </a:r>
                    </a:p>
                  </a:txBody>
                  <a:tcPr anchor="ctr" marL="73152" marR="54864" marT="27432" marB="27432">
                    <a:solidFill>
                      <a:srgbClr val="0A2A5E"/>
                    </a:solidFill>
                  </a:tcPr>
                </a:tc>
                <a:tc>
                  <a:txBody>
                    <a:bodyPr wrap="square"/>
                    <a:lstStyle/>
                    <a:p>
                      <a:pPr algn="l"/>
                      <a:r>
                        <a:rPr sz="1250" b="1">
                          <a:solidFill>
                            <a:srgbClr val="FFFFFF"/>
                          </a:solidFill>
                          <a:latin typeface="Arial"/>
                        </a:rPr>
                        <a:t>Frequency</a:t>
                      </a:r>
                    </a:p>
                  </a:txBody>
                  <a:tcPr anchor="ctr" marL="73152" marR="54864" marT="27432" marB="27432">
                    <a:solidFill>
                      <a:srgbClr val="0A2A5E"/>
                    </a:solidFill>
                  </a:tcPr>
                </a:tc>
                <a:tc>
                  <a:txBody>
                    <a:bodyPr wrap="square"/>
                    <a:lstStyle/>
                    <a:p>
                      <a:pPr algn="l"/>
                      <a:r>
                        <a:rPr sz="1250" b="1">
                          <a:solidFill>
                            <a:srgbClr val="FFFFFF"/>
                          </a:solidFill>
                          <a:latin typeface="Arial"/>
                        </a:rPr>
                        <a:t>Measure of Success</a:t>
                      </a:r>
                    </a:p>
                  </a:txBody>
                  <a:tcPr anchor="ctr" marL="73152" marR="54864" marT="27432" marB="27432">
                    <a:solidFill>
                      <a:srgbClr val="0A2A5E"/>
                    </a:solidFill>
                  </a:tcPr>
                </a:tc>
              </a:tr>
              <a:tr h="512064">
                <a:tc>
                  <a:txBody>
                    <a:bodyPr wrap="square"/>
                    <a:lstStyle/>
                    <a:p>
                      <a:pPr algn="l"/>
                      <a:r>
                        <a:rPr sz="1150" b="1">
                          <a:solidFill>
                            <a:srgbClr val="21252B"/>
                          </a:solidFill>
                          <a:latin typeface="Arial"/>
                        </a:rPr>
                        <a:t>New-recruit onboarding + 100-name list</a:t>
                      </a:r>
                    </a:p>
                  </a:txBody>
                  <a:tcPr anchor="ctr" marL="73152" marR="54864" marT="27432" marB="27432">
                    <a:solidFill>
                      <a:srgbClr val="FFFFFF"/>
                    </a:solidFill>
                  </a:tcPr>
                </a:tc>
                <a:tc>
                  <a:txBody>
                    <a:bodyPr wrap="square"/>
                    <a:lstStyle/>
                    <a:p>
                      <a:pPr algn="l"/>
                      <a:r>
                        <a:rPr sz="1150" b="0">
                          <a:solidFill>
                            <a:srgbClr val="21252B"/>
                          </a:solidFill>
                          <a:latin typeface="Arial"/>
                        </a:rPr>
                        <a:t>Week 1 after contracting</a:t>
                      </a:r>
                    </a:p>
                  </a:txBody>
                  <a:tcPr anchor="ctr" marL="73152" marR="54864" marT="27432" marB="27432">
                    <a:solidFill>
                      <a:srgbClr val="FFFFFF"/>
                    </a:solidFill>
                  </a:tcPr>
                </a:tc>
                <a:tc>
                  <a:txBody>
                    <a:bodyPr wrap="square"/>
                    <a:lstStyle/>
                    <a:p>
                      <a:pPr algn="l"/>
                      <a:r>
                        <a:rPr sz="1150" b="0">
                          <a:solidFill>
                            <a:srgbClr val="0A2A5E"/>
                          </a:solidFill>
                          <a:latin typeface="Arial"/>
                        </a:rPr>
                        <a:t>100-name list submitted</a:t>
                      </a:r>
                    </a:p>
                  </a:txBody>
                  <a:tcPr anchor="ctr" marL="73152" marR="54864" marT="27432" marB="27432">
                    <a:solidFill>
                      <a:srgbClr val="FFFFFF"/>
                    </a:solidFill>
                  </a:tcPr>
                </a:tc>
              </a:tr>
              <a:tr h="512064">
                <a:tc>
                  <a:txBody>
                    <a:bodyPr wrap="square"/>
                    <a:lstStyle/>
                    <a:p>
                      <a:pPr algn="l"/>
                      <a:r>
                        <a:rPr sz="1150" b="1">
                          <a:solidFill>
                            <a:srgbClr val="21252B"/>
                          </a:solidFill>
                          <a:latin typeface="Arial"/>
                        </a:rPr>
                        <a:t>Licensing &amp; exam study support</a:t>
                      </a:r>
                    </a:p>
                  </a:txBody>
                  <a:tcPr anchor="ctr" marL="73152" marR="54864" marT="27432" marB="27432">
                    <a:solidFill>
                      <a:srgbClr val="F2F4F8"/>
                    </a:solidFill>
                  </a:tcPr>
                </a:tc>
                <a:tc>
                  <a:txBody>
                    <a:bodyPr wrap="square"/>
                    <a:lstStyle/>
                    <a:p>
                      <a:pPr algn="l"/>
                      <a:r>
                        <a:rPr sz="1150" b="0">
                          <a:solidFill>
                            <a:srgbClr val="21252B"/>
                          </a:solidFill>
                          <a:latin typeface="Arial"/>
                        </a:rPr>
                        <a:t>1 hour daily (first 60 days)</a:t>
                      </a:r>
                    </a:p>
                  </a:txBody>
                  <a:tcPr anchor="ctr" marL="73152" marR="54864" marT="27432" marB="27432">
                    <a:solidFill>
                      <a:srgbClr val="F2F4F8"/>
                    </a:solidFill>
                  </a:tcPr>
                </a:tc>
                <a:tc>
                  <a:txBody>
                    <a:bodyPr wrap="square"/>
                    <a:lstStyle/>
                    <a:p>
                      <a:pPr algn="l"/>
                      <a:r>
                        <a:rPr sz="1150" b="0">
                          <a:solidFill>
                            <a:srgbClr val="0A2A5E"/>
                          </a:solidFill>
                          <a:latin typeface="Arial"/>
                        </a:rPr>
                        <a:t>Licensed within 60 days</a:t>
                      </a:r>
                    </a:p>
                  </a:txBody>
                  <a:tcPr anchor="ctr" marL="73152" marR="54864" marT="27432" marB="27432">
                    <a:solidFill>
                      <a:srgbClr val="F2F4F8"/>
                    </a:solidFill>
                  </a:tcPr>
                </a:tc>
              </a:tr>
              <a:tr h="512064">
                <a:tc>
                  <a:txBody>
                    <a:bodyPr wrap="square"/>
                    <a:lstStyle/>
                    <a:p>
                      <a:pPr algn="l"/>
                      <a:r>
                        <a:rPr sz="1150" b="1">
                          <a:solidFill>
                            <a:srgbClr val="21252B"/>
                          </a:solidFill>
                          <a:latin typeface="Arial"/>
                        </a:rPr>
                        <a:t>Joint field work with recruit</a:t>
                      </a:r>
                    </a:p>
                  </a:txBody>
                  <a:tcPr anchor="ctr" marL="73152" marR="54864" marT="27432" marB="27432">
                    <a:solidFill>
                      <a:srgbClr val="FFFFFF"/>
                    </a:solidFill>
                  </a:tcPr>
                </a:tc>
                <a:tc>
                  <a:txBody>
                    <a:bodyPr wrap="square"/>
                    <a:lstStyle/>
                    <a:p>
                      <a:pPr algn="l"/>
                      <a:r>
                        <a:rPr sz="1150" b="0">
                          <a:solidFill>
                            <a:srgbClr val="21252B"/>
                          </a:solidFill>
                          <a:latin typeface="Arial"/>
                        </a:rPr>
                        <a:t>2× per week</a:t>
                      </a:r>
                    </a:p>
                  </a:txBody>
                  <a:tcPr anchor="ctr" marL="73152" marR="54864" marT="27432" marB="27432">
                    <a:solidFill>
                      <a:srgbClr val="FFFFFF"/>
                    </a:solidFill>
                  </a:tcPr>
                </a:tc>
                <a:tc>
                  <a:txBody>
                    <a:bodyPr wrap="square"/>
                    <a:lstStyle/>
                    <a:p>
                      <a:pPr algn="l"/>
                      <a:r>
                        <a:rPr sz="1150" b="0">
                          <a:solidFill>
                            <a:srgbClr val="0A2A5E"/>
                          </a:solidFill>
                          <a:latin typeface="Arial"/>
                        </a:rPr>
                        <a:t>8 joint meetings per month</a:t>
                      </a:r>
                    </a:p>
                  </a:txBody>
                  <a:tcPr anchor="ctr" marL="73152" marR="54864" marT="27432" marB="27432">
                    <a:solidFill>
                      <a:srgbClr val="FFFFFF"/>
                    </a:solidFill>
                  </a:tcPr>
                </a:tc>
              </a:tr>
              <a:tr h="512064">
                <a:tc>
                  <a:txBody>
                    <a:bodyPr wrap="square"/>
                    <a:lstStyle/>
                    <a:p>
                      <a:pPr algn="l"/>
                      <a:r>
                        <a:rPr sz="1150" b="1">
                          <a:solidFill>
                            <a:srgbClr val="21252B"/>
                          </a:solidFill>
                          <a:latin typeface="Arial"/>
                        </a:rPr>
                        <a:t>One-on-one coaching</a:t>
                      </a:r>
                    </a:p>
                  </a:txBody>
                  <a:tcPr anchor="ctr" marL="73152" marR="54864" marT="27432" marB="27432">
                    <a:solidFill>
                      <a:srgbClr val="F2F4F8"/>
                    </a:solidFill>
                  </a:tcPr>
                </a:tc>
                <a:tc>
                  <a:txBody>
                    <a:bodyPr wrap="square"/>
                    <a:lstStyle/>
                    <a:p>
                      <a:pPr algn="l"/>
                      <a:r>
                        <a:rPr sz="1150" b="0">
                          <a:solidFill>
                            <a:srgbClr val="21252B"/>
                          </a:solidFill>
                          <a:latin typeface="Arial"/>
                        </a:rPr>
                        <a:t>30 minutes weekly</a:t>
                      </a:r>
                    </a:p>
                  </a:txBody>
                  <a:tcPr anchor="ctr" marL="73152" marR="54864" marT="27432" marB="27432">
                    <a:solidFill>
                      <a:srgbClr val="F2F4F8"/>
                    </a:solidFill>
                  </a:tcPr>
                </a:tc>
                <a:tc>
                  <a:txBody>
                    <a:bodyPr wrap="square"/>
                    <a:lstStyle/>
                    <a:p>
                      <a:pPr algn="l"/>
                      <a:r>
                        <a:rPr sz="1150" b="0">
                          <a:solidFill>
                            <a:srgbClr val="0A2A5E"/>
                          </a:solidFill>
                          <a:latin typeface="Arial"/>
                        </a:rPr>
                        <a:t>Weekly scorecard reviewed</a:t>
                      </a:r>
                    </a:p>
                  </a:txBody>
                  <a:tcPr anchor="ctr" marL="73152" marR="54864" marT="27432" marB="27432">
                    <a:solidFill>
                      <a:srgbClr val="F2F4F8"/>
                    </a:solidFill>
                  </a:tcPr>
                </a:tc>
              </a:tr>
              <a:tr h="512064">
                <a:tc>
                  <a:txBody>
                    <a:bodyPr wrap="square"/>
                    <a:lstStyle/>
                    <a:p>
                      <a:pPr algn="l"/>
                      <a:r>
                        <a:rPr sz="1150" b="1">
                          <a:solidFill>
                            <a:srgbClr val="21252B"/>
                          </a:solidFill>
                          <a:latin typeface="Arial"/>
                        </a:rPr>
                        <a:t>First-case milestone</a:t>
                      </a:r>
                    </a:p>
                  </a:txBody>
                  <a:tcPr anchor="ctr" marL="73152" marR="54864" marT="27432" marB="27432">
                    <a:solidFill>
                      <a:srgbClr val="FFFFFF"/>
                    </a:solidFill>
                  </a:tcPr>
                </a:tc>
                <a:tc>
                  <a:txBody>
                    <a:bodyPr wrap="square"/>
                    <a:lstStyle/>
                    <a:p>
                      <a:pPr algn="l"/>
                      <a:r>
                        <a:rPr sz="1150" b="0">
                          <a:solidFill>
                            <a:srgbClr val="21252B"/>
                          </a:solidFill>
                          <a:latin typeface="Arial"/>
                        </a:rPr>
                        <a:t>Within 45 days of licensing</a:t>
                      </a:r>
                    </a:p>
                  </a:txBody>
                  <a:tcPr anchor="ctr" marL="73152" marR="54864" marT="27432" marB="27432">
                    <a:solidFill>
                      <a:srgbClr val="FFFFFF"/>
                    </a:solidFill>
                  </a:tcPr>
                </a:tc>
                <a:tc>
                  <a:txBody>
                    <a:bodyPr wrap="square"/>
                    <a:lstStyle/>
                    <a:p>
                      <a:pPr algn="l"/>
                      <a:r>
                        <a:rPr sz="1150" b="0">
                          <a:solidFill>
                            <a:srgbClr val="0A2A5E"/>
                          </a:solidFill>
                          <a:latin typeface="Arial"/>
                        </a:rPr>
                        <a:t>3 cases in first 90 days</a:t>
                      </a:r>
                    </a:p>
                  </a:txBody>
                  <a:tcPr anchor="ctr" marL="73152" marR="54864" marT="27432" marB="27432">
                    <a:solidFill>
                      <a:srgbClr val="FFFFFF"/>
                    </a:solidFill>
                  </a:tcPr>
                </a:tc>
              </a:tr>
              <a:tr h="512064">
                <a:tc>
                  <a:txBody>
                    <a:bodyPr wrap="square"/>
                    <a:lstStyle/>
                    <a:p>
                      <a:pPr algn="l"/>
                      <a:r>
                        <a:rPr sz="1150" b="1">
                          <a:solidFill>
                            <a:srgbClr val="21252B"/>
                          </a:solidFill>
                          <a:latin typeface="Arial"/>
                        </a:rPr>
                        <a:t>Team sales meeting &amp; product training</a:t>
                      </a:r>
                    </a:p>
                  </a:txBody>
                  <a:tcPr anchor="ctr" marL="73152" marR="54864" marT="27432" marB="27432">
                    <a:solidFill>
                      <a:srgbClr val="F2F4F8"/>
                    </a:solidFill>
                  </a:tcPr>
                </a:tc>
                <a:tc>
                  <a:txBody>
                    <a:bodyPr wrap="square"/>
                    <a:lstStyle/>
                    <a:p>
                      <a:pPr algn="l"/>
                      <a:r>
                        <a:rPr sz="1150" b="0">
                          <a:solidFill>
                            <a:srgbClr val="21252B"/>
                          </a:solidFill>
                          <a:latin typeface="Arial"/>
                        </a:rPr>
                        <a:t>Every Tuesday</a:t>
                      </a:r>
                    </a:p>
                  </a:txBody>
                  <a:tcPr anchor="ctr" marL="73152" marR="54864" marT="27432" marB="27432">
                    <a:solidFill>
                      <a:srgbClr val="F2F4F8"/>
                    </a:solidFill>
                  </a:tcPr>
                </a:tc>
                <a:tc>
                  <a:txBody>
                    <a:bodyPr wrap="square"/>
                    <a:lstStyle/>
                    <a:p>
                      <a:pPr algn="l"/>
                      <a:r>
                        <a:rPr sz="1150" b="0">
                          <a:solidFill>
                            <a:srgbClr val="0A2A5E"/>
                          </a:solidFill>
                          <a:latin typeface="Arial"/>
                        </a:rPr>
                        <a:t>90% attendance</a:t>
                      </a:r>
                    </a:p>
                  </a:txBody>
                  <a:tcPr anchor="ctr" marL="73152" marR="54864" marT="27432" marB="27432">
                    <a:solidFill>
                      <a:srgbClr val="F2F4F8"/>
                    </a:solidFill>
                  </a:tcPr>
                </a:tc>
              </a:tr>
              <a:tr h="512064">
                <a:tc>
                  <a:txBody>
                    <a:bodyPr wrap="square"/>
                    <a:lstStyle/>
                    <a:p>
                      <a:pPr algn="l"/>
                      <a:r>
                        <a:rPr sz="1150" b="1">
                          <a:solidFill>
                            <a:srgbClr val="21252B"/>
                          </a:solidFill>
                          <a:latin typeface="Arial"/>
                        </a:rPr>
                        <a:t>Monthly CARE check-in &amp; recognition</a:t>
                      </a:r>
                    </a:p>
                  </a:txBody>
                  <a:tcPr anchor="ctr" marL="73152" marR="54864" marT="27432" marB="27432">
                    <a:solidFill>
                      <a:srgbClr val="FFFFFF"/>
                    </a:solidFill>
                  </a:tcPr>
                </a:tc>
                <a:tc>
                  <a:txBody>
                    <a:bodyPr wrap="square"/>
                    <a:lstStyle/>
                    <a:p>
                      <a:pPr algn="l"/>
                      <a:r>
                        <a:rPr sz="1150" b="0">
                          <a:solidFill>
                            <a:srgbClr val="21252B"/>
                          </a:solidFill>
                          <a:latin typeface="Arial"/>
                        </a:rPr>
                        <a:t>Once a month</a:t>
                      </a:r>
                    </a:p>
                  </a:txBody>
                  <a:tcPr anchor="ctr" marL="73152" marR="54864" marT="27432" marB="27432">
                    <a:solidFill>
                      <a:srgbClr val="FFFFFF"/>
                    </a:solidFill>
                  </a:tcPr>
                </a:tc>
                <a:tc>
                  <a:txBody>
                    <a:bodyPr wrap="square"/>
                    <a:lstStyle/>
                    <a:p>
                      <a:pPr algn="l"/>
                      <a:r>
                        <a:rPr sz="1150" b="0">
                          <a:solidFill>
                            <a:srgbClr val="0A2A5E"/>
                          </a:solidFill>
                          <a:latin typeface="Arial"/>
                        </a:rPr>
                        <a:t>80% of recruits active at Month 12</a:t>
                      </a:r>
                    </a:p>
                  </a:txBody>
                  <a:tcPr anchor="ctr" marL="73152" marR="54864" marT="27432" marB="27432">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21207" y="237744"/>
            <a:ext cx="11155680" cy="274320"/>
          </a:xfrm>
          <a:prstGeom prst="rect">
            <a:avLst/>
          </a:prstGeom>
          <a:noFill/>
        </p:spPr>
        <p:txBody>
          <a:bodyPr wrap="square" lIns="0" rIns="0" tIns="0" bIns="0">
            <a:noAutofit/>
          </a:bodyPr>
          <a:lstStyle/>
          <a:p>
            <a:pPr algn="l"/>
            <a:r>
              <a:rPr sz="1300" b="1" i="0">
                <a:solidFill>
                  <a:srgbClr val="D6001C"/>
                </a:solidFill>
                <a:latin typeface="Arial"/>
              </a:rPr>
              <a:t>DISCIPLINE</a:t>
            </a:r>
          </a:p>
        </p:txBody>
      </p:sp>
      <p:sp>
        <p:nvSpPr>
          <p:cNvPr id="3" name="TextBox 2"/>
          <p:cNvSpPr txBox="1"/>
          <p:nvPr/>
        </p:nvSpPr>
        <p:spPr>
          <a:xfrm>
            <a:off x="502920" y="493776"/>
            <a:ext cx="11155680" cy="512064"/>
          </a:xfrm>
          <a:prstGeom prst="rect">
            <a:avLst/>
          </a:prstGeom>
          <a:noFill/>
        </p:spPr>
        <p:txBody>
          <a:bodyPr wrap="square" lIns="0" rIns="0" tIns="0" bIns="0">
            <a:noAutofit/>
          </a:bodyPr>
          <a:lstStyle/>
          <a:p>
            <a:pPr algn="l"/>
            <a:r>
              <a:rPr sz="2700" b="1" i="0">
                <a:solidFill>
                  <a:srgbClr val="0A2A5E"/>
                </a:solidFill>
                <a:latin typeface="Arial"/>
              </a:rPr>
              <a:t>STRUCTURED WORK WEEK</a:t>
            </a:r>
          </a:p>
        </p:txBody>
      </p:sp>
      <p:sp>
        <p:nvSpPr>
          <p:cNvPr id="4" name="Rectangle 3"/>
          <p:cNvSpPr/>
          <p:nvPr/>
        </p:nvSpPr>
        <p:spPr>
          <a:xfrm>
            <a:off x="521207" y="1042415"/>
            <a:ext cx="1371600" cy="45720"/>
          </a:xfrm>
          <a:prstGeom prst="rect">
            <a:avLst/>
          </a:prstGeom>
          <a:solidFill>
            <a:srgbClr val="D60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320040" y="1243584"/>
          <a:ext cx="11548872" cy="5143500"/>
        </p:xfrm>
        <a:graphic>
          <a:graphicData uri="http://schemas.openxmlformats.org/drawingml/2006/table">
            <a:tbl>
              <a:tblPr>
                <a:tableStyleId>{5C22544A-7EE6-4342-B048-85BDC9FD1C3A}</a:tableStyleId>
              </a:tblPr>
              <a:tblGrid>
                <a:gridCol w="1051560"/>
                <a:gridCol w="1499616"/>
                <a:gridCol w="1499616"/>
                <a:gridCol w="1499616"/>
                <a:gridCol w="1499616"/>
                <a:gridCol w="1499616"/>
                <a:gridCol w="1499616"/>
                <a:gridCol w="1499616"/>
              </a:tblGrid>
              <a:tr h="365760">
                <a:tc>
                  <a:txBody>
                    <a:bodyPr wrap="square"/>
                    <a:lstStyle/>
                    <a:p>
                      <a:pPr algn="ctr"/>
                      <a:r>
                        <a:rPr sz="950" b="1">
                          <a:solidFill>
                            <a:srgbClr val="FFFFFF"/>
                          </a:solidFill>
                          <a:latin typeface="Arial"/>
                        </a:rPr>
                        <a:t>TIME</a:t>
                      </a:r>
                    </a:p>
                  </a:txBody>
                  <a:tcPr anchor="ctr" marL="73152" marR="54864" marT="27432" marB="27432">
                    <a:solidFill>
                      <a:srgbClr val="0A2A5E"/>
                    </a:solidFill>
                  </a:tcPr>
                </a:tc>
                <a:tc>
                  <a:txBody>
                    <a:bodyPr wrap="square"/>
                    <a:lstStyle/>
                    <a:p>
                      <a:pPr algn="ctr"/>
                      <a:r>
                        <a:rPr sz="950" b="1">
                          <a:solidFill>
                            <a:srgbClr val="FFFFFF"/>
                          </a:solidFill>
                          <a:latin typeface="Arial"/>
                        </a:rPr>
                        <a:t>MONDAY</a:t>
                      </a:r>
                    </a:p>
                  </a:txBody>
                  <a:tcPr anchor="ctr" marL="73152" marR="54864" marT="27432" marB="27432">
                    <a:solidFill>
                      <a:srgbClr val="0A2A5E"/>
                    </a:solidFill>
                  </a:tcPr>
                </a:tc>
                <a:tc>
                  <a:txBody>
                    <a:bodyPr wrap="square"/>
                    <a:lstStyle/>
                    <a:p>
                      <a:pPr algn="ctr"/>
                      <a:r>
                        <a:rPr sz="950" b="1">
                          <a:solidFill>
                            <a:srgbClr val="FFFFFF"/>
                          </a:solidFill>
                          <a:latin typeface="Arial"/>
                        </a:rPr>
                        <a:t>TUESDAY</a:t>
                      </a:r>
                    </a:p>
                  </a:txBody>
                  <a:tcPr anchor="ctr" marL="73152" marR="54864" marT="27432" marB="27432">
                    <a:solidFill>
                      <a:srgbClr val="0A2A5E"/>
                    </a:solidFill>
                  </a:tcPr>
                </a:tc>
                <a:tc>
                  <a:txBody>
                    <a:bodyPr wrap="square"/>
                    <a:lstStyle/>
                    <a:p>
                      <a:pPr algn="ctr"/>
                      <a:r>
                        <a:rPr sz="950" b="1">
                          <a:solidFill>
                            <a:srgbClr val="FFFFFF"/>
                          </a:solidFill>
                          <a:latin typeface="Arial"/>
                        </a:rPr>
                        <a:t>WEDNESDAY</a:t>
                      </a:r>
                    </a:p>
                  </a:txBody>
                  <a:tcPr anchor="ctr" marL="73152" marR="54864" marT="27432" marB="27432">
                    <a:solidFill>
                      <a:srgbClr val="0A2A5E"/>
                    </a:solidFill>
                  </a:tcPr>
                </a:tc>
                <a:tc>
                  <a:txBody>
                    <a:bodyPr wrap="square"/>
                    <a:lstStyle/>
                    <a:p>
                      <a:pPr algn="ctr"/>
                      <a:r>
                        <a:rPr sz="950" b="1">
                          <a:solidFill>
                            <a:srgbClr val="FFFFFF"/>
                          </a:solidFill>
                          <a:latin typeface="Arial"/>
                        </a:rPr>
                        <a:t>THURSDAY</a:t>
                      </a:r>
                    </a:p>
                  </a:txBody>
                  <a:tcPr anchor="ctr" marL="73152" marR="54864" marT="27432" marB="27432">
                    <a:solidFill>
                      <a:srgbClr val="0A2A5E"/>
                    </a:solidFill>
                  </a:tcPr>
                </a:tc>
                <a:tc>
                  <a:txBody>
                    <a:bodyPr wrap="square"/>
                    <a:lstStyle/>
                    <a:p>
                      <a:pPr algn="ctr"/>
                      <a:r>
                        <a:rPr sz="950" b="1">
                          <a:solidFill>
                            <a:srgbClr val="FFFFFF"/>
                          </a:solidFill>
                          <a:latin typeface="Arial"/>
                        </a:rPr>
                        <a:t>FRIDAY</a:t>
                      </a:r>
                    </a:p>
                  </a:txBody>
                  <a:tcPr anchor="ctr" marL="73152" marR="54864" marT="27432" marB="27432">
                    <a:solidFill>
                      <a:srgbClr val="0A2A5E"/>
                    </a:solidFill>
                  </a:tcPr>
                </a:tc>
                <a:tc>
                  <a:txBody>
                    <a:bodyPr wrap="square"/>
                    <a:lstStyle/>
                    <a:p>
                      <a:pPr algn="ctr"/>
                      <a:r>
                        <a:rPr sz="950" b="1">
                          <a:solidFill>
                            <a:srgbClr val="FFFFFF"/>
                          </a:solidFill>
                          <a:latin typeface="Arial"/>
                        </a:rPr>
                        <a:t>SATURDAY</a:t>
                      </a:r>
                    </a:p>
                  </a:txBody>
                  <a:tcPr anchor="ctr" marL="73152" marR="54864" marT="27432" marB="27432">
                    <a:solidFill>
                      <a:srgbClr val="0A2A5E"/>
                    </a:solidFill>
                  </a:tcPr>
                </a:tc>
                <a:tc>
                  <a:txBody>
                    <a:bodyPr wrap="square"/>
                    <a:lstStyle/>
                    <a:p>
                      <a:pPr algn="ctr"/>
                      <a:r>
                        <a:rPr sz="950" b="1">
                          <a:solidFill>
                            <a:srgbClr val="FFFFFF"/>
                          </a:solidFill>
                          <a:latin typeface="Arial"/>
                        </a:rPr>
                        <a:t>SUNDAY</a:t>
                      </a:r>
                    </a:p>
                  </a:txBody>
                  <a:tcPr anchor="ctr" marL="73152" marR="54864" marT="27432" marB="27432">
                    <a:solidFill>
                      <a:srgbClr val="0A2A5E"/>
                    </a:solidFill>
                  </a:tcPr>
                </a:tc>
              </a:tr>
              <a:tr h="434340">
                <a:tc>
                  <a:txBody>
                    <a:bodyPr wrap="square"/>
                    <a:lstStyle/>
                    <a:p>
                      <a:pPr algn="ctr"/>
                      <a:r>
                        <a:rPr sz="900" b="1">
                          <a:solidFill>
                            <a:srgbClr val="5A6270"/>
                          </a:solidFill>
                          <a:latin typeface="Arial"/>
                        </a:rPr>
                        <a:t>DATE</a:t>
                      </a:r>
                    </a:p>
                  </a:txBody>
                  <a:tcPr anchor="ctr" marL="73152" marR="54864" marT="27432" marB="27432">
                    <a:solidFill>
                      <a:srgbClr val="F2F4F8"/>
                    </a:solidFill>
                  </a:tcPr>
                </a:tc>
                <a:tc>
                  <a:txBody>
                    <a:bodyPr wrap="square"/>
                    <a:lstStyle/>
                    <a:p>
                      <a:pPr algn="l"/>
                      <a:r>
                        <a:rPr sz="900" b="0">
                          <a:solidFill>
                            <a:srgbClr val="21252B"/>
                          </a:solidFill>
                          <a:latin typeface="Arial"/>
                        </a:rPr>
                        <a:t/>
                      </a:r>
                    </a:p>
                  </a:txBody>
                  <a:tcPr anchor="ctr" marL="73152" marR="54864" marT="27432" marB="27432">
                    <a:solidFill>
                      <a:srgbClr val="FFFFFF"/>
                    </a:solidFill>
                  </a:tcPr>
                </a:tc>
                <a:tc>
                  <a:txBody>
                    <a:bodyPr wrap="square"/>
                    <a:lstStyle/>
                    <a:p>
                      <a:pPr algn="l"/>
                      <a:r>
                        <a:rPr sz="900" b="0">
                          <a:solidFill>
                            <a:srgbClr val="21252B"/>
                          </a:solidFill>
                          <a:latin typeface="Arial"/>
                        </a:rPr>
                        <a:t/>
                      </a:r>
                    </a:p>
                  </a:txBody>
                  <a:tcPr anchor="ctr" marL="73152" marR="54864" marT="27432" marB="27432">
                    <a:solidFill>
                      <a:srgbClr val="FFFFFF"/>
                    </a:solidFill>
                  </a:tcPr>
                </a:tc>
                <a:tc>
                  <a:txBody>
                    <a:bodyPr wrap="square"/>
                    <a:lstStyle/>
                    <a:p>
                      <a:pPr algn="l"/>
                      <a:r>
                        <a:rPr sz="900" b="0">
                          <a:solidFill>
                            <a:srgbClr val="21252B"/>
                          </a:solidFill>
                          <a:latin typeface="Arial"/>
                        </a:rPr>
                        <a:t/>
                      </a:r>
                    </a:p>
                  </a:txBody>
                  <a:tcPr anchor="ctr" marL="73152" marR="54864" marT="27432" marB="27432">
                    <a:solidFill>
                      <a:srgbClr val="FFFFFF"/>
                    </a:solidFill>
                  </a:tcPr>
                </a:tc>
                <a:tc>
                  <a:txBody>
                    <a:bodyPr wrap="square"/>
                    <a:lstStyle/>
                    <a:p>
                      <a:pPr algn="l"/>
                      <a:r>
                        <a:rPr sz="900" b="0">
                          <a:solidFill>
                            <a:srgbClr val="21252B"/>
                          </a:solidFill>
                          <a:latin typeface="Arial"/>
                        </a:rPr>
                        <a:t/>
                      </a:r>
                    </a:p>
                  </a:txBody>
                  <a:tcPr anchor="ctr" marL="73152" marR="54864" marT="27432" marB="27432">
                    <a:solidFill>
                      <a:srgbClr val="FFFFFF"/>
                    </a:solidFill>
                  </a:tcPr>
                </a:tc>
                <a:tc>
                  <a:txBody>
                    <a:bodyPr wrap="square"/>
                    <a:lstStyle/>
                    <a:p>
                      <a:pPr algn="l"/>
                      <a:r>
                        <a:rPr sz="900" b="0">
                          <a:solidFill>
                            <a:srgbClr val="21252B"/>
                          </a:solidFill>
                          <a:latin typeface="Arial"/>
                        </a:rPr>
                        <a:t/>
                      </a:r>
                    </a:p>
                  </a:txBody>
                  <a:tcPr anchor="ctr" marL="73152" marR="54864" marT="27432" marB="27432">
                    <a:solidFill>
                      <a:srgbClr val="FFFFFF"/>
                    </a:solidFill>
                  </a:tcPr>
                </a:tc>
                <a:tc>
                  <a:txBody>
                    <a:bodyPr wrap="square"/>
                    <a:lstStyle/>
                    <a:p>
                      <a:pPr algn="l"/>
                      <a:r>
                        <a:rPr sz="900" b="0">
                          <a:solidFill>
                            <a:srgbClr val="21252B"/>
                          </a:solidFill>
                          <a:latin typeface="Arial"/>
                        </a:rPr>
                        <a:t/>
                      </a:r>
                    </a:p>
                  </a:txBody>
                  <a:tcPr anchor="ctr" marL="73152" marR="54864" marT="27432" marB="27432">
                    <a:solidFill>
                      <a:srgbClr val="FFFFFF"/>
                    </a:solidFill>
                  </a:tcPr>
                </a:tc>
                <a:tc>
                  <a:txBody>
                    <a:bodyPr wrap="square"/>
                    <a:lstStyle/>
                    <a:p>
                      <a:pPr algn="l"/>
                      <a:r>
                        <a:rPr sz="900" b="0">
                          <a:solidFill>
                            <a:srgbClr val="21252B"/>
                          </a:solidFill>
                          <a:latin typeface="Arial"/>
                        </a:rPr>
                        <a:t/>
                      </a:r>
                    </a:p>
                  </a:txBody>
                  <a:tcPr anchor="ctr" marL="73152" marR="54864" marT="27432" marB="27432">
                    <a:solidFill>
                      <a:srgbClr val="FFFFFF"/>
                    </a:solidFill>
                  </a:tcPr>
                </a:tc>
              </a:tr>
              <a:tr h="434340">
                <a:tc>
                  <a:txBody>
                    <a:bodyPr wrap="square"/>
                    <a:lstStyle/>
                    <a:p>
                      <a:pPr algn="ctr"/>
                      <a:r>
                        <a:rPr sz="850" b="1">
                          <a:solidFill>
                            <a:srgbClr val="0A2A5E"/>
                          </a:solidFill>
                          <a:latin typeface="Arial"/>
                        </a:rPr>
                        <a:t>8:00-9:00</a:t>
                      </a:r>
                    </a:p>
                  </a:txBody>
                  <a:tcPr anchor="ctr" marL="73152" marR="54864" marT="27432" marB="27432">
                    <a:solidFill>
                      <a:srgbClr val="F2F4F8"/>
                    </a:solidFill>
                  </a:tcPr>
                </a:tc>
                <a:tc>
                  <a:txBody>
                    <a:bodyPr wrap="square"/>
                    <a:lstStyle/>
                    <a:p>
                      <a:pPr algn="ctr"/>
                      <a:r>
                        <a:rPr sz="800" b="0">
                          <a:solidFill>
                            <a:srgbClr val="21252B"/>
                          </a:solidFill>
                          <a:latin typeface="Arial"/>
                        </a:rPr>
                        <a:t>Team huddle &amp; plan</a:t>
                      </a:r>
                    </a:p>
                  </a:txBody>
                  <a:tcPr anchor="ctr" marL="73152" marR="54864" marT="27432" marB="27432">
                    <a:solidFill>
                      <a:srgbClr val="FFFFFF"/>
                    </a:solidFill>
                  </a:tcPr>
                </a:tc>
                <a:tc>
                  <a:txBody>
                    <a:bodyPr wrap="square"/>
                    <a:lstStyle/>
                    <a:p>
                      <a:pPr algn="ctr"/>
                      <a:r>
                        <a:rPr sz="800" b="0">
                          <a:solidFill>
                            <a:srgbClr val="21252B"/>
                          </a:solidFill>
                          <a:latin typeface="Arial"/>
                        </a:rPr>
                        <a:t>Team huddle &amp; plan</a:t>
                      </a:r>
                    </a:p>
                  </a:txBody>
                  <a:tcPr anchor="ctr" marL="73152" marR="54864" marT="27432" marB="27432">
                    <a:solidFill>
                      <a:srgbClr val="FFFFFF"/>
                    </a:solidFill>
                  </a:tcPr>
                </a:tc>
                <a:tc>
                  <a:txBody>
                    <a:bodyPr wrap="square"/>
                    <a:lstStyle/>
                    <a:p>
                      <a:pPr algn="ctr"/>
                      <a:r>
                        <a:rPr sz="800" b="0">
                          <a:solidFill>
                            <a:srgbClr val="21252B"/>
                          </a:solidFill>
                          <a:latin typeface="Arial"/>
                        </a:rPr>
                        <a:t>Team huddle &amp; plan</a:t>
                      </a:r>
                    </a:p>
                  </a:txBody>
                  <a:tcPr anchor="ctr" marL="73152" marR="54864" marT="27432" marB="27432">
                    <a:solidFill>
                      <a:srgbClr val="FFFFFF"/>
                    </a:solidFill>
                  </a:tcPr>
                </a:tc>
                <a:tc>
                  <a:txBody>
                    <a:bodyPr wrap="square"/>
                    <a:lstStyle/>
                    <a:p>
                      <a:pPr algn="ctr"/>
                      <a:r>
                        <a:rPr sz="800" b="0">
                          <a:solidFill>
                            <a:srgbClr val="21252B"/>
                          </a:solidFill>
                          <a:latin typeface="Arial"/>
                        </a:rPr>
                        <a:t>Team huddle &amp; plan</a:t>
                      </a:r>
                    </a:p>
                  </a:txBody>
                  <a:tcPr anchor="ctr" marL="73152" marR="54864" marT="27432" marB="27432">
                    <a:solidFill>
                      <a:srgbClr val="FFFFFF"/>
                    </a:solidFill>
                  </a:tcPr>
                </a:tc>
                <a:tc>
                  <a:txBody>
                    <a:bodyPr wrap="square"/>
                    <a:lstStyle/>
                    <a:p>
                      <a:pPr algn="ctr"/>
                      <a:r>
                        <a:rPr sz="800" b="0">
                          <a:solidFill>
                            <a:srgbClr val="21252B"/>
                          </a:solidFill>
                          <a:latin typeface="Arial"/>
                        </a:rPr>
                        <a:t>Team huddle &amp; plan</a:t>
                      </a:r>
                    </a:p>
                  </a:txBody>
                  <a:tcPr anchor="ctr" marL="73152" marR="54864" marT="27432" marB="27432">
                    <a:solidFill>
                      <a:srgbClr val="FFFFFF"/>
                    </a:solidFill>
                  </a:tcPr>
                </a:tc>
                <a:tc>
                  <a:txBody>
                    <a:bodyPr wrap="square"/>
                    <a:lstStyle/>
                    <a:p>
                      <a:pPr algn="ctr"/>
                      <a:r>
                        <a:rPr sz="800" b="0">
                          <a:solidFill>
                            <a:srgbClr val="21252B"/>
                          </a:solidFill>
                          <a:latin typeface="Arial"/>
                        </a:rPr>
                        <a:t>Team training</a:t>
                      </a:r>
                    </a:p>
                  </a:txBody>
                  <a:tcPr anchor="ctr" marL="73152" marR="54864" marT="27432" marB="27432">
                    <a:solidFill>
                      <a:srgbClr val="FFFFFF"/>
                    </a:solidFill>
                  </a:tcPr>
                </a:tc>
                <a:tc>
                  <a:txBody>
                    <a:bodyPr wrap="square"/>
                    <a:lstStyle/>
                    <a:p>
                      <a:pPr algn="ctr"/>
                      <a:r>
                        <a:rPr sz="800" b="0">
                          <a:solidFill>
                            <a:srgbClr val="21252B"/>
                          </a:solidFill>
                          <a:latin typeface="Arial"/>
                        </a:rPr>
                        <a:t>Rest</a:t>
                      </a:r>
                    </a:p>
                  </a:txBody>
                  <a:tcPr anchor="ctr" marL="73152" marR="54864" marT="27432" marB="27432">
                    <a:solidFill>
                      <a:srgbClr val="EDF1F7"/>
                    </a:solidFill>
                  </a:tcPr>
                </a:tc>
              </a:tr>
              <a:tr h="434340">
                <a:tc>
                  <a:txBody>
                    <a:bodyPr wrap="square"/>
                    <a:lstStyle/>
                    <a:p>
                      <a:pPr algn="ctr"/>
                      <a:r>
                        <a:rPr sz="850" b="1">
                          <a:solidFill>
                            <a:srgbClr val="0A2A5E"/>
                          </a:solidFill>
                          <a:latin typeface="Arial"/>
                        </a:rPr>
                        <a:t>9:00-10:00</a:t>
                      </a:r>
                    </a:p>
                  </a:txBody>
                  <a:tcPr anchor="ctr" marL="73152" marR="54864" marT="27432" marB="27432">
                    <a:solidFill>
                      <a:srgbClr val="F2F4F8"/>
                    </a:solidFill>
                  </a:tcPr>
                </a:tc>
                <a:tc>
                  <a:txBody>
                    <a:bodyPr wrap="square"/>
                    <a:lstStyle/>
                    <a:p>
                      <a:pPr algn="ctr"/>
                      <a:r>
                        <a:rPr sz="800" b="0">
                          <a:solidFill>
                            <a:srgbClr val="21252B"/>
                          </a:solidFill>
                          <a:latin typeface="Arial"/>
                        </a:rPr>
                        <a:t>Prospecting — 10 calls</a:t>
                      </a:r>
                    </a:p>
                  </a:txBody>
                  <a:tcPr anchor="ctr" marL="73152" marR="54864" marT="27432" marB="27432">
                    <a:solidFill>
                      <a:srgbClr val="FFFFFF"/>
                    </a:solidFill>
                  </a:tcPr>
                </a:tc>
                <a:tc>
                  <a:txBody>
                    <a:bodyPr wrap="square"/>
                    <a:lstStyle/>
                    <a:p>
                      <a:pPr algn="ctr"/>
                      <a:r>
                        <a:rPr sz="800" b="0">
                          <a:solidFill>
                            <a:srgbClr val="21252B"/>
                          </a:solidFill>
                          <a:latin typeface="Arial"/>
                        </a:rPr>
                        <a:t>Prospecting — 10 calls</a:t>
                      </a:r>
                    </a:p>
                  </a:txBody>
                  <a:tcPr anchor="ctr" marL="73152" marR="54864" marT="27432" marB="27432">
                    <a:solidFill>
                      <a:srgbClr val="FFFFFF"/>
                    </a:solidFill>
                  </a:tcPr>
                </a:tc>
                <a:tc>
                  <a:txBody>
                    <a:bodyPr wrap="square"/>
                    <a:lstStyle/>
                    <a:p>
                      <a:pPr algn="ctr"/>
                      <a:r>
                        <a:rPr sz="800" b="0">
                          <a:solidFill>
                            <a:srgbClr val="21252B"/>
                          </a:solidFill>
                          <a:latin typeface="Arial"/>
                        </a:rPr>
                        <a:t>Prospecting — 10 calls</a:t>
                      </a:r>
                    </a:p>
                  </a:txBody>
                  <a:tcPr anchor="ctr" marL="73152" marR="54864" marT="27432" marB="27432">
                    <a:solidFill>
                      <a:srgbClr val="FFFFFF"/>
                    </a:solidFill>
                  </a:tcPr>
                </a:tc>
                <a:tc>
                  <a:txBody>
                    <a:bodyPr wrap="square"/>
                    <a:lstStyle/>
                    <a:p>
                      <a:pPr algn="ctr"/>
                      <a:r>
                        <a:rPr sz="800" b="0">
                          <a:solidFill>
                            <a:srgbClr val="21252B"/>
                          </a:solidFill>
                          <a:latin typeface="Arial"/>
                        </a:rPr>
                        <a:t>Prospecting — 10 calls</a:t>
                      </a:r>
                    </a:p>
                  </a:txBody>
                  <a:tcPr anchor="ctr" marL="73152" marR="54864" marT="27432" marB="27432">
                    <a:solidFill>
                      <a:srgbClr val="FFFFFF"/>
                    </a:solidFill>
                  </a:tcPr>
                </a:tc>
                <a:tc>
                  <a:txBody>
                    <a:bodyPr wrap="square"/>
                    <a:lstStyle/>
                    <a:p>
                      <a:pPr algn="ctr"/>
                      <a:r>
                        <a:rPr sz="800" b="0">
                          <a:solidFill>
                            <a:srgbClr val="21252B"/>
                          </a:solidFill>
                          <a:latin typeface="Arial"/>
                        </a:rPr>
                        <a:t>Prospecting — 10 calls</a:t>
                      </a:r>
                    </a:p>
                  </a:txBody>
                  <a:tcPr anchor="ctr" marL="73152" marR="54864" marT="27432" marB="27432">
                    <a:solidFill>
                      <a:srgbClr val="FFFFFF"/>
                    </a:solidFill>
                  </a:tcPr>
                </a:tc>
                <a:tc>
                  <a:txBody>
                    <a:bodyPr wrap="square"/>
                    <a:lstStyle/>
                    <a:p>
                      <a:pPr algn="ctr"/>
                      <a:r>
                        <a:rPr sz="800" b="0">
                          <a:solidFill>
                            <a:srgbClr val="21252B"/>
                          </a:solidFill>
                          <a:latin typeface="Arial"/>
                        </a:rPr>
                        <a:t>Team training</a:t>
                      </a:r>
                    </a:p>
                  </a:txBody>
                  <a:tcPr anchor="ctr" marL="73152" marR="54864" marT="27432" marB="27432">
                    <a:solidFill>
                      <a:srgbClr val="FFFFFF"/>
                    </a:solidFill>
                  </a:tcPr>
                </a:tc>
                <a:tc>
                  <a:txBody>
                    <a:bodyPr wrap="square"/>
                    <a:lstStyle/>
                    <a:p>
                      <a:pPr algn="ctr"/>
                      <a:r>
                        <a:rPr sz="800" b="0">
                          <a:solidFill>
                            <a:srgbClr val="21252B"/>
                          </a:solidFill>
                          <a:latin typeface="Arial"/>
                        </a:rPr>
                        <a:t>Mass &amp; gratitude</a:t>
                      </a:r>
                    </a:p>
                  </a:txBody>
                  <a:tcPr anchor="ctr" marL="73152" marR="54864" marT="27432" marB="27432">
                    <a:solidFill>
                      <a:srgbClr val="EDF1F7"/>
                    </a:solidFill>
                  </a:tcPr>
                </a:tc>
              </a:tr>
              <a:tr h="434340">
                <a:tc>
                  <a:txBody>
                    <a:bodyPr wrap="square"/>
                    <a:lstStyle/>
                    <a:p>
                      <a:pPr algn="ctr"/>
                      <a:r>
                        <a:rPr sz="850" b="1">
                          <a:solidFill>
                            <a:srgbClr val="0A2A5E"/>
                          </a:solidFill>
                          <a:latin typeface="Arial"/>
                        </a:rPr>
                        <a:t>10:00-11:00</a:t>
                      </a:r>
                    </a:p>
                  </a:txBody>
                  <a:tcPr anchor="ctr" marL="73152" marR="54864" marT="27432" marB="27432">
                    <a:solidFill>
                      <a:srgbClr val="F2F4F8"/>
                    </a:solidFill>
                  </a:tcPr>
                </a:tc>
                <a:tc>
                  <a:txBody>
                    <a:bodyPr wrap="square"/>
                    <a:lstStyle/>
                    <a:p>
                      <a:pPr algn="ctr"/>
                      <a:r>
                        <a:rPr sz="800" b="0">
                          <a:solidFill>
                            <a:srgbClr val="21252B"/>
                          </a:solidFill>
                          <a:latin typeface="Arial"/>
                        </a:rPr>
                        <a:t>Client meetings</a:t>
                      </a:r>
                    </a:p>
                  </a:txBody>
                  <a:tcPr anchor="ctr" marL="73152" marR="54864" marT="27432" marB="27432">
                    <a:solidFill>
                      <a:srgbClr val="FFFFFF"/>
                    </a:solidFill>
                  </a:tcPr>
                </a:tc>
                <a:tc>
                  <a:txBody>
                    <a:bodyPr wrap="square"/>
                    <a:lstStyle/>
                    <a:p>
                      <a:pPr algn="ctr"/>
                      <a:r>
                        <a:rPr sz="800" b="0">
                          <a:solidFill>
                            <a:srgbClr val="21252B"/>
                          </a:solidFill>
                          <a:latin typeface="Arial"/>
                        </a:rPr>
                        <a:t>Recruit interviews</a:t>
                      </a:r>
                    </a:p>
                  </a:txBody>
                  <a:tcPr anchor="ctr" marL="73152" marR="54864" marT="27432" marB="27432">
                    <a:solidFill>
                      <a:srgbClr val="FFFFFF"/>
                    </a:solidFill>
                  </a:tcPr>
                </a:tc>
                <a:tc>
                  <a:txBody>
                    <a:bodyPr wrap="square"/>
                    <a:lstStyle/>
                    <a:p>
                      <a:pPr algn="ctr"/>
                      <a:r>
                        <a:rPr sz="800" b="0">
                          <a:solidFill>
                            <a:srgbClr val="21252B"/>
                          </a:solidFill>
                          <a:latin typeface="Arial"/>
                        </a:rPr>
                        <a:t>Client meetings</a:t>
                      </a:r>
                    </a:p>
                  </a:txBody>
                  <a:tcPr anchor="ctr" marL="73152" marR="54864" marT="27432" marB="27432">
                    <a:solidFill>
                      <a:srgbClr val="FFFFFF"/>
                    </a:solidFill>
                  </a:tcPr>
                </a:tc>
                <a:tc>
                  <a:txBody>
                    <a:bodyPr wrap="square"/>
                    <a:lstStyle/>
                    <a:p>
                      <a:pPr algn="ctr"/>
                      <a:r>
                        <a:rPr sz="800" b="0">
                          <a:solidFill>
                            <a:srgbClr val="21252B"/>
                          </a:solidFill>
                          <a:latin typeface="Arial"/>
                        </a:rPr>
                        <a:t>Recruit interviews</a:t>
                      </a:r>
                    </a:p>
                  </a:txBody>
                  <a:tcPr anchor="ctr" marL="73152" marR="54864" marT="27432" marB="27432">
                    <a:solidFill>
                      <a:srgbClr val="FFFFFF"/>
                    </a:solidFill>
                  </a:tcPr>
                </a:tc>
                <a:tc>
                  <a:txBody>
                    <a:bodyPr wrap="square"/>
                    <a:lstStyle/>
                    <a:p>
                      <a:pPr algn="ctr"/>
                      <a:r>
                        <a:rPr sz="800" b="0">
                          <a:solidFill>
                            <a:srgbClr val="21252B"/>
                          </a:solidFill>
                          <a:latin typeface="Arial"/>
                        </a:rPr>
                        <a:t>Client meetings</a:t>
                      </a:r>
                    </a:p>
                  </a:txBody>
                  <a:tcPr anchor="ctr" marL="73152" marR="54864" marT="27432" marB="27432">
                    <a:solidFill>
                      <a:srgbClr val="FFFFFF"/>
                    </a:solidFill>
                  </a:tcPr>
                </a:tc>
                <a:tc>
                  <a:txBody>
                    <a:bodyPr wrap="square"/>
                    <a:lstStyle/>
                    <a:p>
                      <a:pPr algn="ctr"/>
                      <a:r>
                        <a:rPr sz="800" b="0">
                          <a:solidFill>
                            <a:srgbClr val="21252B"/>
                          </a:solidFill>
                          <a:latin typeface="Arial"/>
                        </a:rPr>
                        <a:t>Discovery Day (2×/mo)</a:t>
                      </a:r>
                    </a:p>
                  </a:txBody>
                  <a:tcPr anchor="ctr" marL="73152" marR="54864" marT="27432" marB="27432">
                    <a:solidFill>
                      <a:srgbClr val="FFFFFF"/>
                    </a:solidFill>
                  </a:tcPr>
                </a:tc>
                <a:tc>
                  <a:txBody>
                    <a:bodyPr wrap="square"/>
                    <a:lstStyle/>
                    <a:p>
                      <a:pPr algn="ctr"/>
                      <a:r>
                        <a:rPr sz="800" b="0">
                          <a:solidFill>
                            <a:srgbClr val="21252B"/>
                          </a:solidFill>
                          <a:latin typeface="Arial"/>
                        </a:rPr>
                        <a:t>Family time</a:t>
                      </a:r>
                    </a:p>
                  </a:txBody>
                  <a:tcPr anchor="ctr" marL="73152" marR="54864" marT="27432" marB="27432">
                    <a:solidFill>
                      <a:srgbClr val="EDF1F7"/>
                    </a:solidFill>
                  </a:tcPr>
                </a:tc>
              </a:tr>
              <a:tr h="434340">
                <a:tc>
                  <a:txBody>
                    <a:bodyPr wrap="square"/>
                    <a:lstStyle/>
                    <a:p>
                      <a:pPr algn="ctr"/>
                      <a:r>
                        <a:rPr sz="850" b="1">
                          <a:solidFill>
                            <a:srgbClr val="0A2A5E"/>
                          </a:solidFill>
                          <a:latin typeface="Arial"/>
                        </a:rPr>
                        <a:t>11:00-12:00</a:t>
                      </a:r>
                    </a:p>
                  </a:txBody>
                  <a:tcPr anchor="ctr" marL="73152" marR="54864" marT="27432" marB="27432">
                    <a:solidFill>
                      <a:srgbClr val="F2F4F8"/>
                    </a:solidFill>
                  </a:tcPr>
                </a:tc>
                <a:tc>
                  <a:txBody>
                    <a:bodyPr wrap="square"/>
                    <a:lstStyle/>
                    <a:p>
                      <a:pPr algn="ctr"/>
                      <a:r>
                        <a:rPr sz="800" b="0">
                          <a:solidFill>
                            <a:srgbClr val="21252B"/>
                          </a:solidFill>
                          <a:latin typeface="Arial"/>
                        </a:rPr>
                        <a:t>Client meetings</a:t>
                      </a:r>
                    </a:p>
                  </a:txBody>
                  <a:tcPr anchor="ctr" marL="73152" marR="54864" marT="27432" marB="27432">
                    <a:solidFill>
                      <a:srgbClr val="FFFFFF"/>
                    </a:solidFill>
                  </a:tcPr>
                </a:tc>
                <a:tc>
                  <a:txBody>
                    <a:bodyPr wrap="square"/>
                    <a:lstStyle/>
                    <a:p>
                      <a:pPr algn="ctr"/>
                      <a:r>
                        <a:rPr sz="800" b="0">
                          <a:solidFill>
                            <a:srgbClr val="21252B"/>
                          </a:solidFill>
                          <a:latin typeface="Arial"/>
                        </a:rPr>
                        <a:t>Joint field work</a:t>
                      </a:r>
                    </a:p>
                  </a:txBody>
                  <a:tcPr anchor="ctr" marL="73152" marR="54864" marT="27432" marB="27432">
                    <a:solidFill>
                      <a:srgbClr val="FFFFFF"/>
                    </a:solidFill>
                  </a:tcPr>
                </a:tc>
                <a:tc>
                  <a:txBody>
                    <a:bodyPr wrap="square"/>
                    <a:lstStyle/>
                    <a:p>
                      <a:pPr algn="ctr"/>
                      <a:r>
                        <a:rPr sz="800" b="0">
                          <a:solidFill>
                            <a:srgbClr val="21252B"/>
                          </a:solidFill>
                          <a:latin typeface="Arial"/>
                        </a:rPr>
                        <a:t>Follow-ups &amp; referrals</a:t>
                      </a:r>
                    </a:p>
                  </a:txBody>
                  <a:tcPr anchor="ctr" marL="73152" marR="54864" marT="27432" marB="27432">
                    <a:solidFill>
                      <a:srgbClr val="FFFFFF"/>
                    </a:solidFill>
                  </a:tcPr>
                </a:tc>
                <a:tc>
                  <a:txBody>
                    <a:bodyPr wrap="square"/>
                    <a:lstStyle/>
                    <a:p>
                      <a:pPr algn="ctr"/>
                      <a:r>
                        <a:rPr sz="800" b="0">
                          <a:solidFill>
                            <a:srgbClr val="21252B"/>
                          </a:solidFill>
                          <a:latin typeface="Arial"/>
                        </a:rPr>
                        <a:t>Follow-ups &amp; referrals</a:t>
                      </a:r>
                    </a:p>
                  </a:txBody>
                  <a:tcPr anchor="ctr" marL="73152" marR="54864" marT="27432" marB="27432">
                    <a:solidFill>
                      <a:srgbClr val="FFFFFF"/>
                    </a:solidFill>
                  </a:tcPr>
                </a:tc>
                <a:tc>
                  <a:txBody>
                    <a:bodyPr wrap="square"/>
                    <a:lstStyle/>
                    <a:p>
                      <a:pPr algn="ctr"/>
                      <a:r>
                        <a:rPr sz="800" b="0">
                          <a:solidFill>
                            <a:srgbClr val="21252B"/>
                          </a:solidFill>
                          <a:latin typeface="Arial"/>
                        </a:rPr>
                        <a:t>Client meetings</a:t>
                      </a:r>
                    </a:p>
                  </a:txBody>
                  <a:tcPr anchor="ctr" marL="73152" marR="54864" marT="27432" marB="27432">
                    <a:solidFill>
                      <a:srgbClr val="FFFFFF"/>
                    </a:solidFill>
                  </a:tcPr>
                </a:tc>
                <a:tc>
                  <a:txBody>
                    <a:bodyPr wrap="square"/>
                    <a:lstStyle/>
                    <a:p>
                      <a:pPr algn="ctr"/>
                      <a:r>
                        <a:rPr sz="800" b="0">
                          <a:solidFill>
                            <a:srgbClr val="21252B"/>
                          </a:solidFill>
                          <a:latin typeface="Arial"/>
                        </a:rPr>
                        <a:t>Discovery Day</a:t>
                      </a:r>
                    </a:p>
                  </a:txBody>
                  <a:tcPr anchor="ctr" marL="73152" marR="54864" marT="27432" marB="27432">
                    <a:solidFill>
                      <a:srgbClr val="FFFFFF"/>
                    </a:solidFill>
                  </a:tcPr>
                </a:tc>
                <a:tc>
                  <a:txBody>
                    <a:bodyPr wrap="square"/>
                    <a:lstStyle/>
                    <a:p>
                      <a:pPr algn="ctr"/>
                      <a:r>
                        <a:rPr sz="800" b="0">
                          <a:solidFill>
                            <a:srgbClr val="21252B"/>
                          </a:solidFill>
                          <a:latin typeface="Arial"/>
                        </a:rPr>
                        <a:t>Family time</a:t>
                      </a:r>
                    </a:p>
                  </a:txBody>
                  <a:tcPr anchor="ctr" marL="73152" marR="54864" marT="27432" marB="27432">
                    <a:solidFill>
                      <a:srgbClr val="EDF1F7"/>
                    </a:solidFill>
                  </a:tcPr>
                </a:tc>
              </a:tr>
              <a:tr h="434340">
                <a:tc>
                  <a:txBody>
                    <a:bodyPr wrap="square"/>
                    <a:lstStyle/>
                    <a:p>
                      <a:pPr algn="ctr"/>
                      <a:r>
                        <a:rPr sz="850" b="1">
                          <a:solidFill>
                            <a:srgbClr val="0A2A5E"/>
                          </a:solidFill>
                          <a:latin typeface="Arial"/>
                        </a:rPr>
                        <a:t>12:00-1:00</a:t>
                      </a:r>
                    </a:p>
                  </a:txBody>
                  <a:tcPr anchor="ctr" marL="73152" marR="54864" marT="27432" marB="27432">
                    <a:solidFill>
                      <a:srgbClr val="F2F4F8"/>
                    </a:solidFill>
                  </a:tcPr>
                </a:tc>
                <a:tc>
                  <a:txBody>
                    <a:bodyPr wrap="square"/>
                    <a:lstStyle/>
                    <a:p>
                      <a:pPr algn="ctr"/>
                      <a:r>
                        <a:rPr sz="800" b="0">
                          <a:solidFill>
                            <a:srgbClr val="21252B"/>
                          </a:solidFill>
                          <a:latin typeface="Arial"/>
                        </a:rPr>
                        <a:t>Lunch &amp; recharge</a:t>
                      </a:r>
                    </a:p>
                  </a:txBody>
                  <a:tcPr anchor="ctr" marL="73152" marR="54864" marT="27432" marB="27432">
                    <a:solidFill>
                      <a:srgbClr val="FFFFFF"/>
                    </a:solidFill>
                  </a:tcPr>
                </a:tc>
                <a:tc>
                  <a:txBody>
                    <a:bodyPr wrap="square"/>
                    <a:lstStyle/>
                    <a:p>
                      <a:pPr algn="ctr"/>
                      <a:r>
                        <a:rPr sz="800" b="0">
                          <a:solidFill>
                            <a:srgbClr val="21252B"/>
                          </a:solidFill>
                          <a:latin typeface="Arial"/>
                        </a:rPr>
                        <a:t>Lunch &amp; recharge</a:t>
                      </a:r>
                    </a:p>
                  </a:txBody>
                  <a:tcPr anchor="ctr" marL="73152" marR="54864" marT="27432" marB="27432">
                    <a:solidFill>
                      <a:srgbClr val="FFFFFF"/>
                    </a:solidFill>
                  </a:tcPr>
                </a:tc>
                <a:tc>
                  <a:txBody>
                    <a:bodyPr wrap="square"/>
                    <a:lstStyle/>
                    <a:p>
                      <a:pPr algn="ctr"/>
                      <a:r>
                        <a:rPr sz="800" b="0">
                          <a:solidFill>
                            <a:srgbClr val="21252B"/>
                          </a:solidFill>
                          <a:latin typeface="Arial"/>
                        </a:rPr>
                        <a:t>Lunch &amp; recharge</a:t>
                      </a:r>
                    </a:p>
                  </a:txBody>
                  <a:tcPr anchor="ctr" marL="73152" marR="54864" marT="27432" marB="27432">
                    <a:solidFill>
                      <a:srgbClr val="FFFFFF"/>
                    </a:solidFill>
                  </a:tcPr>
                </a:tc>
                <a:tc>
                  <a:txBody>
                    <a:bodyPr wrap="square"/>
                    <a:lstStyle/>
                    <a:p>
                      <a:pPr algn="ctr"/>
                      <a:r>
                        <a:rPr sz="800" b="0">
                          <a:solidFill>
                            <a:srgbClr val="21252B"/>
                          </a:solidFill>
                          <a:latin typeface="Arial"/>
                        </a:rPr>
                        <a:t>Lunch &amp; recharge</a:t>
                      </a:r>
                    </a:p>
                  </a:txBody>
                  <a:tcPr anchor="ctr" marL="73152" marR="54864" marT="27432" marB="27432">
                    <a:solidFill>
                      <a:srgbClr val="FFFFFF"/>
                    </a:solidFill>
                  </a:tcPr>
                </a:tc>
                <a:tc>
                  <a:txBody>
                    <a:bodyPr wrap="square"/>
                    <a:lstStyle/>
                    <a:p>
                      <a:pPr algn="ctr"/>
                      <a:r>
                        <a:rPr sz="800" b="0">
                          <a:solidFill>
                            <a:srgbClr val="21252B"/>
                          </a:solidFill>
                          <a:latin typeface="Arial"/>
                        </a:rPr>
                        <a:t>Lunch &amp; recharge</a:t>
                      </a:r>
                    </a:p>
                  </a:txBody>
                  <a:tcPr anchor="ctr" marL="73152" marR="54864" marT="27432" marB="27432">
                    <a:solidFill>
                      <a:srgbClr val="FFFFFF"/>
                    </a:solidFill>
                  </a:tcPr>
                </a:tc>
                <a:tc>
                  <a:txBody>
                    <a:bodyPr wrap="square"/>
                    <a:lstStyle/>
                    <a:p>
                      <a:pPr algn="ctr"/>
                      <a:r>
                        <a:rPr sz="800" b="0">
                          <a:solidFill>
                            <a:srgbClr val="21252B"/>
                          </a:solidFill>
                          <a:latin typeface="Arial"/>
                        </a:rPr>
                        <a:t>Lunch &amp; recharge</a:t>
                      </a:r>
                    </a:p>
                  </a:txBody>
                  <a:tcPr anchor="ctr" marL="73152" marR="54864" marT="27432" marB="27432">
                    <a:solidFill>
                      <a:srgbClr val="FFFFFF"/>
                    </a:solidFill>
                  </a:tcPr>
                </a:tc>
                <a:tc>
                  <a:txBody>
                    <a:bodyPr wrap="square"/>
                    <a:lstStyle/>
                    <a:p>
                      <a:pPr algn="ctr"/>
                      <a:r>
                        <a:rPr sz="800" b="0">
                          <a:solidFill>
                            <a:srgbClr val="21252B"/>
                          </a:solidFill>
                          <a:latin typeface="Arial"/>
                        </a:rPr>
                        <a:t>Family lunch</a:t>
                      </a:r>
                    </a:p>
                  </a:txBody>
                  <a:tcPr anchor="ctr" marL="73152" marR="54864" marT="27432" marB="27432">
                    <a:solidFill>
                      <a:srgbClr val="EDF1F7"/>
                    </a:solidFill>
                  </a:tcPr>
                </a:tc>
              </a:tr>
              <a:tr h="434340">
                <a:tc>
                  <a:txBody>
                    <a:bodyPr wrap="square"/>
                    <a:lstStyle/>
                    <a:p>
                      <a:pPr algn="ctr"/>
                      <a:r>
                        <a:rPr sz="850" b="1">
                          <a:solidFill>
                            <a:srgbClr val="0A2A5E"/>
                          </a:solidFill>
                          <a:latin typeface="Arial"/>
                        </a:rPr>
                        <a:t>1:00-2:00</a:t>
                      </a:r>
                    </a:p>
                  </a:txBody>
                  <a:tcPr anchor="ctr" marL="73152" marR="54864" marT="27432" marB="27432">
                    <a:solidFill>
                      <a:srgbClr val="F2F4F8"/>
                    </a:solidFill>
                  </a:tcPr>
                </a:tc>
                <a:tc>
                  <a:txBody>
                    <a:bodyPr wrap="square"/>
                    <a:lstStyle/>
                    <a:p>
                      <a:pPr algn="ctr"/>
                      <a:r>
                        <a:rPr sz="800" b="0">
                          <a:solidFill>
                            <a:srgbClr val="21252B"/>
                          </a:solidFill>
                          <a:latin typeface="Arial"/>
                        </a:rPr>
                        <a:t>Prospecting — 10 calls</a:t>
                      </a:r>
                    </a:p>
                  </a:txBody>
                  <a:tcPr anchor="ctr" marL="73152" marR="54864" marT="27432" marB="27432">
                    <a:solidFill>
                      <a:srgbClr val="FFFFFF"/>
                    </a:solidFill>
                  </a:tcPr>
                </a:tc>
                <a:tc>
                  <a:txBody>
                    <a:bodyPr wrap="square"/>
                    <a:lstStyle/>
                    <a:p>
                      <a:pPr algn="ctr"/>
                      <a:r>
                        <a:rPr sz="800" b="0">
                          <a:solidFill>
                            <a:srgbClr val="21252B"/>
                          </a:solidFill>
                          <a:latin typeface="Arial"/>
                        </a:rPr>
                        <a:t>Client meetings</a:t>
                      </a:r>
                    </a:p>
                  </a:txBody>
                  <a:tcPr anchor="ctr" marL="73152" marR="54864" marT="27432" marB="27432">
                    <a:solidFill>
                      <a:srgbClr val="FFFFFF"/>
                    </a:solidFill>
                  </a:tcPr>
                </a:tc>
                <a:tc>
                  <a:txBody>
                    <a:bodyPr wrap="square"/>
                    <a:lstStyle/>
                    <a:p>
                      <a:pPr algn="ctr"/>
                      <a:r>
                        <a:rPr sz="800" b="0">
                          <a:solidFill>
                            <a:srgbClr val="21252B"/>
                          </a:solidFill>
                          <a:latin typeface="Arial"/>
                        </a:rPr>
                        <a:t>Recruit interviews</a:t>
                      </a:r>
                    </a:p>
                  </a:txBody>
                  <a:tcPr anchor="ctr" marL="73152" marR="54864" marT="27432" marB="27432">
                    <a:solidFill>
                      <a:srgbClr val="FFFFFF"/>
                    </a:solidFill>
                  </a:tcPr>
                </a:tc>
                <a:tc>
                  <a:txBody>
                    <a:bodyPr wrap="square"/>
                    <a:lstStyle/>
                    <a:p>
                      <a:pPr algn="ctr"/>
                      <a:r>
                        <a:rPr sz="800" b="0">
                          <a:solidFill>
                            <a:srgbClr val="21252B"/>
                          </a:solidFill>
                          <a:latin typeface="Arial"/>
                        </a:rPr>
                        <a:t>Client meetings</a:t>
                      </a:r>
                    </a:p>
                  </a:txBody>
                  <a:tcPr anchor="ctr" marL="73152" marR="54864" marT="27432" marB="27432">
                    <a:solidFill>
                      <a:srgbClr val="FFFFFF"/>
                    </a:solidFill>
                  </a:tcPr>
                </a:tc>
                <a:tc>
                  <a:txBody>
                    <a:bodyPr wrap="square"/>
                    <a:lstStyle/>
                    <a:p>
                      <a:pPr algn="ctr"/>
                      <a:r>
                        <a:rPr sz="800" b="0">
                          <a:solidFill>
                            <a:srgbClr val="21252B"/>
                          </a:solidFill>
                          <a:latin typeface="Arial"/>
                        </a:rPr>
                        <a:t>New-recruit coaching</a:t>
                      </a:r>
                    </a:p>
                  </a:txBody>
                  <a:tcPr anchor="ctr" marL="73152" marR="54864" marT="27432" marB="27432">
                    <a:solidFill>
                      <a:srgbClr val="FFFFFF"/>
                    </a:solidFill>
                  </a:tcPr>
                </a:tc>
                <a:tc>
                  <a:txBody>
                    <a:bodyPr wrap="square"/>
                    <a:lstStyle/>
                    <a:p>
                      <a:pPr algn="ctr"/>
                      <a:r>
                        <a:rPr sz="800" b="0">
                          <a:solidFill>
                            <a:srgbClr val="21252B"/>
                          </a:solidFill>
                          <a:latin typeface="Arial"/>
                        </a:rPr>
                        <a:t>Personal client meetings</a:t>
                      </a:r>
                    </a:p>
                  </a:txBody>
                  <a:tcPr anchor="ctr" marL="73152" marR="54864" marT="27432" marB="27432">
                    <a:solidFill>
                      <a:srgbClr val="FFFFFF"/>
                    </a:solidFill>
                  </a:tcPr>
                </a:tc>
                <a:tc>
                  <a:txBody>
                    <a:bodyPr wrap="square"/>
                    <a:lstStyle/>
                    <a:p>
                      <a:pPr algn="ctr"/>
                      <a:r>
                        <a:rPr sz="800" b="0">
                          <a:solidFill>
                            <a:srgbClr val="21252B"/>
                          </a:solidFill>
                          <a:latin typeface="Arial"/>
                        </a:rPr>
                        <a:t>Rest</a:t>
                      </a:r>
                    </a:p>
                  </a:txBody>
                  <a:tcPr anchor="ctr" marL="73152" marR="54864" marT="27432" marB="27432">
                    <a:solidFill>
                      <a:srgbClr val="EDF1F7"/>
                    </a:solidFill>
                  </a:tcPr>
                </a:tc>
              </a:tr>
              <a:tr h="434340">
                <a:tc>
                  <a:txBody>
                    <a:bodyPr wrap="square"/>
                    <a:lstStyle/>
                    <a:p>
                      <a:pPr algn="ctr"/>
                      <a:r>
                        <a:rPr sz="850" b="1">
                          <a:solidFill>
                            <a:srgbClr val="0A2A5E"/>
                          </a:solidFill>
                          <a:latin typeface="Arial"/>
                        </a:rPr>
                        <a:t>2:00-3:00</a:t>
                      </a:r>
                    </a:p>
                  </a:txBody>
                  <a:tcPr anchor="ctr" marL="73152" marR="54864" marT="27432" marB="27432">
                    <a:solidFill>
                      <a:srgbClr val="F2F4F8"/>
                    </a:solidFill>
                  </a:tcPr>
                </a:tc>
                <a:tc>
                  <a:txBody>
                    <a:bodyPr wrap="square"/>
                    <a:lstStyle/>
                    <a:p>
                      <a:pPr algn="ctr"/>
                      <a:r>
                        <a:rPr sz="800" b="0">
                          <a:solidFill>
                            <a:srgbClr val="21252B"/>
                          </a:solidFill>
                          <a:latin typeface="Arial"/>
                        </a:rPr>
                        <a:t>Joint field work</a:t>
                      </a:r>
                    </a:p>
                  </a:txBody>
                  <a:tcPr anchor="ctr" marL="73152" marR="54864" marT="27432" marB="27432">
                    <a:solidFill>
                      <a:srgbClr val="FFFFFF"/>
                    </a:solidFill>
                  </a:tcPr>
                </a:tc>
                <a:tc>
                  <a:txBody>
                    <a:bodyPr wrap="square"/>
                    <a:lstStyle/>
                    <a:p>
                      <a:pPr algn="ctr"/>
                      <a:r>
                        <a:rPr sz="800" b="0">
                          <a:solidFill>
                            <a:srgbClr val="21252B"/>
                          </a:solidFill>
                          <a:latin typeface="Arial"/>
                        </a:rPr>
                        <a:t>Client meetings</a:t>
                      </a:r>
                    </a:p>
                  </a:txBody>
                  <a:tcPr anchor="ctr" marL="73152" marR="54864" marT="27432" marB="27432">
                    <a:solidFill>
                      <a:srgbClr val="FFFFFF"/>
                    </a:solidFill>
                  </a:tcPr>
                </a:tc>
                <a:tc>
                  <a:txBody>
                    <a:bodyPr wrap="square"/>
                    <a:lstStyle/>
                    <a:p>
                      <a:pPr algn="ctr"/>
                      <a:r>
                        <a:rPr sz="800" b="0">
                          <a:solidFill>
                            <a:srgbClr val="21252B"/>
                          </a:solidFill>
                          <a:latin typeface="Arial"/>
                        </a:rPr>
                        <a:t>Joint field work</a:t>
                      </a:r>
                    </a:p>
                  </a:txBody>
                  <a:tcPr anchor="ctr" marL="73152" marR="54864" marT="27432" marB="27432">
                    <a:solidFill>
                      <a:srgbClr val="FFFFFF"/>
                    </a:solidFill>
                  </a:tcPr>
                </a:tc>
                <a:tc>
                  <a:txBody>
                    <a:bodyPr wrap="square"/>
                    <a:lstStyle/>
                    <a:p>
                      <a:pPr algn="ctr"/>
                      <a:r>
                        <a:rPr sz="800" b="0">
                          <a:solidFill>
                            <a:srgbClr val="21252B"/>
                          </a:solidFill>
                          <a:latin typeface="Arial"/>
                        </a:rPr>
                        <a:t>Client meetings</a:t>
                      </a:r>
                    </a:p>
                  </a:txBody>
                  <a:tcPr anchor="ctr" marL="73152" marR="54864" marT="27432" marB="27432">
                    <a:solidFill>
                      <a:srgbClr val="FFFFFF"/>
                    </a:solidFill>
                  </a:tcPr>
                </a:tc>
                <a:tc>
                  <a:txBody>
                    <a:bodyPr wrap="square"/>
                    <a:lstStyle/>
                    <a:p>
                      <a:pPr algn="ctr"/>
                      <a:r>
                        <a:rPr sz="800" b="0">
                          <a:solidFill>
                            <a:srgbClr val="21252B"/>
                          </a:solidFill>
                          <a:latin typeface="Arial"/>
                        </a:rPr>
                        <a:t>New-recruit coaching</a:t>
                      </a:r>
                    </a:p>
                  </a:txBody>
                  <a:tcPr anchor="ctr" marL="73152" marR="54864" marT="27432" marB="27432">
                    <a:solidFill>
                      <a:srgbClr val="FFFFFF"/>
                    </a:solidFill>
                  </a:tcPr>
                </a:tc>
                <a:tc>
                  <a:txBody>
                    <a:bodyPr wrap="square"/>
                    <a:lstStyle/>
                    <a:p>
                      <a:pPr algn="ctr"/>
                      <a:r>
                        <a:rPr sz="800" b="0">
                          <a:solidFill>
                            <a:srgbClr val="21252B"/>
                          </a:solidFill>
                          <a:latin typeface="Arial"/>
                        </a:rPr>
                        <a:t>Personal client meetings</a:t>
                      </a:r>
                    </a:p>
                  </a:txBody>
                  <a:tcPr anchor="ctr" marL="73152" marR="54864" marT="27432" marB="27432">
                    <a:solidFill>
                      <a:srgbClr val="FFFFFF"/>
                    </a:solidFill>
                  </a:tcPr>
                </a:tc>
                <a:tc>
                  <a:txBody>
                    <a:bodyPr wrap="square"/>
                    <a:lstStyle/>
                    <a:p>
                      <a:pPr algn="ctr"/>
                      <a:r>
                        <a:rPr sz="800" b="0">
                          <a:solidFill>
                            <a:srgbClr val="21252B"/>
                          </a:solidFill>
                          <a:latin typeface="Arial"/>
                        </a:rPr>
                        <a:t>Friends &amp; recharge</a:t>
                      </a:r>
                    </a:p>
                  </a:txBody>
                  <a:tcPr anchor="ctr" marL="73152" marR="54864" marT="27432" marB="27432">
                    <a:solidFill>
                      <a:srgbClr val="EDF1F7"/>
                    </a:solidFill>
                  </a:tcPr>
                </a:tc>
              </a:tr>
              <a:tr h="434340">
                <a:tc>
                  <a:txBody>
                    <a:bodyPr wrap="square"/>
                    <a:lstStyle/>
                    <a:p>
                      <a:pPr algn="ctr"/>
                      <a:r>
                        <a:rPr sz="850" b="1">
                          <a:solidFill>
                            <a:srgbClr val="0A2A5E"/>
                          </a:solidFill>
                          <a:latin typeface="Arial"/>
                        </a:rPr>
                        <a:t>3:00-4:00</a:t>
                      </a:r>
                    </a:p>
                  </a:txBody>
                  <a:tcPr anchor="ctr" marL="73152" marR="54864" marT="27432" marB="27432">
                    <a:solidFill>
                      <a:srgbClr val="F2F4F8"/>
                    </a:solidFill>
                  </a:tcPr>
                </a:tc>
                <a:tc>
                  <a:txBody>
                    <a:bodyPr wrap="square"/>
                    <a:lstStyle/>
                    <a:p>
                      <a:pPr algn="ctr"/>
                      <a:r>
                        <a:rPr sz="800" b="0">
                          <a:solidFill>
                            <a:srgbClr val="21252B"/>
                          </a:solidFill>
                          <a:latin typeface="Arial"/>
                        </a:rPr>
                        <a:t>Follow-ups &amp; referrals</a:t>
                      </a:r>
                    </a:p>
                  </a:txBody>
                  <a:tcPr anchor="ctr" marL="73152" marR="54864" marT="27432" marB="27432">
                    <a:solidFill>
                      <a:srgbClr val="FFFFFF"/>
                    </a:solidFill>
                  </a:tcPr>
                </a:tc>
                <a:tc>
                  <a:txBody>
                    <a:bodyPr wrap="square"/>
                    <a:lstStyle/>
                    <a:p>
                      <a:pPr algn="ctr"/>
                      <a:r>
                        <a:rPr sz="800" b="0">
                          <a:solidFill>
                            <a:srgbClr val="21252B"/>
                          </a:solidFill>
                          <a:latin typeface="Arial"/>
                        </a:rPr>
                        <a:t>Referral asks</a:t>
                      </a:r>
                    </a:p>
                  </a:txBody>
                  <a:tcPr anchor="ctr" marL="73152" marR="54864" marT="27432" marB="27432">
                    <a:solidFill>
                      <a:srgbClr val="FFFFFF"/>
                    </a:solidFill>
                  </a:tcPr>
                </a:tc>
                <a:tc>
                  <a:txBody>
                    <a:bodyPr wrap="square"/>
                    <a:lstStyle/>
                    <a:p>
                      <a:pPr algn="ctr"/>
                      <a:r>
                        <a:rPr sz="800" b="0">
                          <a:solidFill>
                            <a:srgbClr val="21252B"/>
                          </a:solidFill>
                          <a:latin typeface="Arial"/>
                        </a:rPr>
                        <a:t>Follow-ups &amp; referrals</a:t>
                      </a:r>
                    </a:p>
                  </a:txBody>
                  <a:tcPr anchor="ctr" marL="73152" marR="54864" marT="27432" marB="27432">
                    <a:solidFill>
                      <a:srgbClr val="FFFFFF"/>
                    </a:solidFill>
                  </a:tcPr>
                </a:tc>
                <a:tc>
                  <a:txBody>
                    <a:bodyPr wrap="square"/>
                    <a:lstStyle/>
                    <a:p>
                      <a:pPr algn="ctr"/>
                      <a:r>
                        <a:rPr sz="800" b="0">
                          <a:solidFill>
                            <a:srgbClr val="21252B"/>
                          </a:solidFill>
                          <a:latin typeface="Arial"/>
                        </a:rPr>
                        <a:t>Referral asks</a:t>
                      </a:r>
                    </a:p>
                  </a:txBody>
                  <a:tcPr anchor="ctr" marL="73152" marR="54864" marT="27432" marB="27432">
                    <a:solidFill>
                      <a:srgbClr val="FFFFFF"/>
                    </a:solidFill>
                  </a:tcPr>
                </a:tc>
                <a:tc>
                  <a:txBody>
                    <a:bodyPr wrap="square"/>
                    <a:lstStyle/>
                    <a:p>
                      <a:pPr algn="ctr"/>
                      <a:r>
                        <a:rPr sz="800" b="0">
                          <a:solidFill>
                            <a:srgbClr val="21252B"/>
                          </a:solidFill>
                          <a:latin typeface="Arial"/>
                        </a:rPr>
                        <a:t>Admin &amp; CRM update</a:t>
                      </a:r>
                    </a:p>
                  </a:txBody>
                  <a:tcPr anchor="ctr" marL="73152" marR="54864" marT="27432" marB="27432">
                    <a:solidFill>
                      <a:srgbClr val="FFFFFF"/>
                    </a:solidFill>
                  </a:tcPr>
                </a:tc>
                <a:tc>
                  <a:txBody>
                    <a:bodyPr wrap="square"/>
                    <a:lstStyle/>
                    <a:p>
                      <a:pPr algn="ctr"/>
                      <a:r>
                        <a:rPr sz="800" b="0">
                          <a:solidFill>
                            <a:srgbClr val="21252B"/>
                          </a:solidFill>
                          <a:latin typeface="Arial"/>
                        </a:rPr>
                        <a:t>Case service &amp; papering</a:t>
                      </a:r>
                    </a:p>
                  </a:txBody>
                  <a:tcPr anchor="ctr" marL="73152" marR="54864" marT="27432" marB="27432">
                    <a:solidFill>
                      <a:srgbClr val="FFFFFF"/>
                    </a:solidFill>
                  </a:tcPr>
                </a:tc>
                <a:tc>
                  <a:txBody>
                    <a:bodyPr wrap="square"/>
                    <a:lstStyle/>
                    <a:p>
                      <a:pPr algn="ctr"/>
                      <a:r>
                        <a:rPr sz="800" b="0">
                          <a:solidFill>
                            <a:srgbClr val="21252B"/>
                          </a:solidFill>
                          <a:latin typeface="Arial"/>
                        </a:rPr>
                        <a:t>Rest</a:t>
                      </a:r>
                    </a:p>
                  </a:txBody>
                  <a:tcPr anchor="ctr" marL="73152" marR="54864" marT="27432" marB="27432">
                    <a:solidFill>
                      <a:srgbClr val="EDF1F7"/>
                    </a:solidFill>
                  </a:tcPr>
                </a:tc>
              </a:tr>
              <a:tr h="434340">
                <a:tc>
                  <a:txBody>
                    <a:bodyPr wrap="square"/>
                    <a:lstStyle/>
                    <a:p>
                      <a:pPr algn="ctr"/>
                      <a:r>
                        <a:rPr sz="850" b="1">
                          <a:solidFill>
                            <a:srgbClr val="0A2A5E"/>
                          </a:solidFill>
                          <a:latin typeface="Arial"/>
                        </a:rPr>
                        <a:t>4:00-5:00</a:t>
                      </a:r>
                    </a:p>
                  </a:txBody>
                  <a:tcPr anchor="ctr" marL="73152" marR="54864" marT="27432" marB="27432">
                    <a:solidFill>
                      <a:srgbClr val="F2F4F8"/>
                    </a:solidFill>
                  </a:tcPr>
                </a:tc>
                <a:tc>
                  <a:txBody>
                    <a:bodyPr wrap="square"/>
                    <a:lstStyle/>
                    <a:p>
                      <a:pPr algn="ctr"/>
                      <a:r>
                        <a:rPr sz="800" b="0">
                          <a:solidFill>
                            <a:srgbClr val="21252B"/>
                          </a:solidFill>
                          <a:latin typeface="Arial"/>
                        </a:rPr>
                        <a:t>Recruit interviews</a:t>
                      </a:r>
                    </a:p>
                  </a:txBody>
                  <a:tcPr anchor="ctr" marL="73152" marR="54864" marT="27432" marB="27432">
                    <a:solidFill>
                      <a:srgbClr val="FFFFFF"/>
                    </a:solidFill>
                  </a:tcPr>
                </a:tc>
                <a:tc>
                  <a:txBody>
                    <a:bodyPr wrap="square"/>
                    <a:lstStyle/>
                    <a:p>
                      <a:pPr algn="ctr"/>
                      <a:r>
                        <a:rPr sz="800" b="0">
                          <a:solidFill>
                            <a:srgbClr val="21252B"/>
                          </a:solidFill>
                          <a:latin typeface="Arial"/>
                        </a:rPr>
                        <a:t>Candidate follow-ups</a:t>
                      </a:r>
                    </a:p>
                  </a:txBody>
                  <a:tcPr anchor="ctr" marL="73152" marR="54864" marT="27432" marB="27432">
                    <a:solidFill>
                      <a:srgbClr val="FFFFFF"/>
                    </a:solidFill>
                  </a:tcPr>
                </a:tc>
                <a:tc>
                  <a:txBody>
                    <a:bodyPr wrap="square"/>
                    <a:lstStyle/>
                    <a:p>
                      <a:pPr algn="ctr"/>
                      <a:r>
                        <a:rPr sz="800" b="0">
                          <a:solidFill>
                            <a:srgbClr val="21252B"/>
                          </a:solidFill>
                          <a:latin typeface="Arial"/>
                        </a:rPr>
                        <a:t>Recruit interviews</a:t>
                      </a:r>
                    </a:p>
                  </a:txBody>
                  <a:tcPr anchor="ctr" marL="73152" marR="54864" marT="27432" marB="27432">
                    <a:solidFill>
                      <a:srgbClr val="FFFFFF"/>
                    </a:solidFill>
                  </a:tcPr>
                </a:tc>
                <a:tc>
                  <a:txBody>
                    <a:bodyPr wrap="square"/>
                    <a:lstStyle/>
                    <a:p>
                      <a:pPr algn="ctr"/>
                      <a:r>
                        <a:rPr sz="800" b="0">
                          <a:solidFill>
                            <a:srgbClr val="21252B"/>
                          </a:solidFill>
                          <a:latin typeface="Arial"/>
                        </a:rPr>
                        <a:t>Candidate follow-ups</a:t>
                      </a:r>
                    </a:p>
                  </a:txBody>
                  <a:tcPr anchor="ctr" marL="73152" marR="54864" marT="27432" marB="27432">
                    <a:solidFill>
                      <a:srgbClr val="FFFFFF"/>
                    </a:solidFill>
                  </a:tcPr>
                </a:tc>
                <a:tc>
                  <a:txBody>
                    <a:bodyPr wrap="square"/>
                    <a:lstStyle/>
                    <a:p>
                      <a:pPr algn="ctr"/>
                      <a:r>
                        <a:rPr sz="800" b="0">
                          <a:solidFill>
                            <a:srgbClr val="21252B"/>
                          </a:solidFill>
                          <a:latin typeface="Arial"/>
                        </a:rPr>
                        <a:t>Weekly review &amp; scorecard</a:t>
                      </a:r>
                    </a:p>
                  </a:txBody>
                  <a:tcPr anchor="ctr" marL="73152" marR="54864" marT="27432" marB="27432">
                    <a:solidFill>
                      <a:srgbClr val="FFFFFF"/>
                    </a:solidFill>
                  </a:tcPr>
                </a:tc>
                <a:tc>
                  <a:txBody>
                    <a:bodyPr wrap="square"/>
                    <a:lstStyle/>
                    <a:p>
                      <a:pPr algn="ctr"/>
                      <a:r>
                        <a:rPr sz="800" b="0">
                          <a:solidFill>
                            <a:srgbClr val="21252B"/>
                          </a:solidFill>
                          <a:latin typeface="Arial"/>
                        </a:rPr>
                        <a:t>Personal study (CPD)</a:t>
                      </a:r>
                    </a:p>
                  </a:txBody>
                  <a:tcPr anchor="ctr" marL="73152" marR="54864" marT="27432" marB="27432">
                    <a:solidFill>
                      <a:srgbClr val="FFFFFF"/>
                    </a:solidFill>
                  </a:tcPr>
                </a:tc>
                <a:tc>
                  <a:txBody>
                    <a:bodyPr wrap="square"/>
                    <a:lstStyle/>
                    <a:p>
                      <a:pPr algn="ctr"/>
                      <a:r>
                        <a:rPr sz="800" b="0">
                          <a:solidFill>
                            <a:srgbClr val="21252B"/>
                          </a:solidFill>
                          <a:latin typeface="Arial"/>
                        </a:rPr>
                        <a:t>Plan next week — 30 min</a:t>
                      </a:r>
                    </a:p>
                  </a:txBody>
                  <a:tcPr anchor="ctr" marL="73152" marR="54864" marT="27432" marB="27432">
                    <a:solidFill>
                      <a:srgbClr val="EDF1F7"/>
                    </a:solidFill>
                  </a:tcPr>
                </a:tc>
              </a:tr>
              <a:tr h="434340">
                <a:tc>
                  <a:txBody>
                    <a:bodyPr wrap="square"/>
                    <a:lstStyle/>
                    <a:p>
                      <a:pPr algn="ctr"/>
                      <a:r>
                        <a:rPr sz="850" b="1">
                          <a:solidFill>
                            <a:srgbClr val="0A2A5E"/>
                          </a:solidFill>
                          <a:latin typeface="Arial"/>
                        </a:rPr>
                        <a:t>5:00-6:00</a:t>
                      </a:r>
                    </a:p>
                  </a:txBody>
                  <a:tcPr anchor="ctr" marL="73152" marR="54864" marT="27432" marB="27432">
                    <a:solidFill>
                      <a:srgbClr val="F2F4F8"/>
                    </a:solidFill>
                  </a:tcPr>
                </a:tc>
                <a:tc>
                  <a:txBody>
                    <a:bodyPr wrap="square"/>
                    <a:lstStyle/>
                    <a:p>
                      <a:pPr algn="ctr"/>
                      <a:r>
                        <a:rPr sz="800" b="0">
                          <a:solidFill>
                            <a:srgbClr val="21252B"/>
                          </a:solidFill>
                          <a:latin typeface="Arial"/>
                        </a:rPr>
                        <a:t>Study 30 min + network</a:t>
                      </a:r>
                    </a:p>
                  </a:txBody>
                  <a:tcPr anchor="ctr" marL="73152" marR="54864" marT="27432" marB="27432">
                    <a:solidFill>
                      <a:srgbClr val="FFFFFF"/>
                    </a:solidFill>
                  </a:tcPr>
                </a:tc>
                <a:tc>
                  <a:txBody>
                    <a:bodyPr wrap="square"/>
                    <a:lstStyle/>
                    <a:p>
                      <a:pPr algn="ctr"/>
                      <a:r>
                        <a:rPr sz="800" b="0">
                          <a:solidFill>
                            <a:srgbClr val="21252B"/>
                          </a:solidFill>
                          <a:latin typeface="Arial"/>
                        </a:rPr>
                        <a:t>Study 30 min + network</a:t>
                      </a:r>
                    </a:p>
                  </a:txBody>
                  <a:tcPr anchor="ctr" marL="73152" marR="54864" marT="27432" marB="27432">
                    <a:solidFill>
                      <a:srgbClr val="FFFFFF"/>
                    </a:solidFill>
                  </a:tcPr>
                </a:tc>
                <a:tc>
                  <a:txBody>
                    <a:bodyPr wrap="square"/>
                    <a:lstStyle/>
                    <a:p>
                      <a:pPr algn="ctr"/>
                      <a:r>
                        <a:rPr sz="800" b="0">
                          <a:solidFill>
                            <a:srgbClr val="21252B"/>
                          </a:solidFill>
                          <a:latin typeface="Arial"/>
                        </a:rPr>
                        <a:t>Study 30 min + network</a:t>
                      </a:r>
                    </a:p>
                  </a:txBody>
                  <a:tcPr anchor="ctr" marL="73152" marR="54864" marT="27432" marB="27432">
                    <a:solidFill>
                      <a:srgbClr val="FFFFFF"/>
                    </a:solidFill>
                  </a:tcPr>
                </a:tc>
                <a:tc>
                  <a:txBody>
                    <a:bodyPr wrap="square"/>
                    <a:lstStyle/>
                    <a:p>
                      <a:pPr algn="ctr"/>
                      <a:r>
                        <a:rPr sz="800" b="0">
                          <a:solidFill>
                            <a:srgbClr val="21252B"/>
                          </a:solidFill>
                          <a:latin typeface="Arial"/>
                        </a:rPr>
                        <a:t>Study 30 min + network</a:t>
                      </a:r>
                    </a:p>
                  </a:txBody>
                  <a:tcPr anchor="ctr" marL="73152" marR="54864" marT="27432" marB="27432">
                    <a:solidFill>
                      <a:srgbClr val="FFFFFF"/>
                    </a:solidFill>
                  </a:tcPr>
                </a:tc>
                <a:tc>
                  <a:txBody>
                    <a:bodyPr wrap="square"/>
                    <a:lstStyle/>
                    <a:p>
                      <a:pPr algn="ctr"/>
                      <a:r>
                        <a:rPr sz="800" b="0">
                          <a:solidFill>
                            <a:srgbClr val="21252B"/>
                          </a:solidFill>
                          <a:latin typeface="Arial"/>
                        </a:rPr>
                        <a:t>Family time</a:t>
                      </a:r>
                    </a:p>
                  </a:txBody>
                  <a:tcPr anchor="ctr" marL="73152" marR="54864" marT="27432" marB="27432">
                    <a:solidFill>
                      <a:srgbClr val="FFFFFF"/>
                    </a:solidFill>
                  </a:tcPr>
                </a:tc>
                <a:tc>
                  <a:txBody>
                    <a:bodyPr wrap="square"/>
                    <a:lstStyle/>
                    <a:p>
                      <a:pPr algn="ctr"/>
                      <a:r>
                        <a:rPr sz="800" b="0">
                          <a:solidFill>
                            <a:srgbClr val="21252B"/>
                          </a:solidFill>
                          <a:latin typeface="Arial"/>
                        </a:rPr>
                        <a:t>Family time</a:t>
                      </a:r>
                    </a:p>
                  </a:txBody>
                  <a:tcPr anchor="ctr" marL="73152" marR="54864" marT="27432" marB="27432">
                    <a:solidFill>
                      <a:srgbClr val="FFFFFF"/>
                    </a:solidFill>
                  </a:tcPr>
                </a:tc>
                <a:tc>
                  <a:txBody>
                    <a:bodyPr wrap="square"/>
                    <a:lstStyle/>
                    <a:p>
                      <a:pPr algn="ctr"/>
                      <a:r>
                        <a:rPr sz="800" b="0">
                          <a:solidFill>
                            <a:srgbClr val="21252B"/>
                          </a:solidFill>
                          <a:latin typeface="Arial"/>
                        </a:rPr>
                        <a:t>Early night</a:t>
                      </a:r>
                    </a:p>
                  </a:txBody>
                  <a:tcPr anchor="ctr" marL="73152" marR="54864" marT="27432" marB="27432">
                    <a:solidFill>
                      <a:srgbClr val="EDF1F7"/>
                    </a:solidFill>
                  </a:tcPr>
                </a:tc>
              </a:tr>
            </a:tbl>
          </a:graphicData>
        </a:graphic>
      </p:graphicFrame>
      <p:sp>
        <p:nvSpPr>
          <p:cNvPr id="6" name="TextBox 5"/>
          <p:cNvSpPr txBox="1"/>
          <p:nvPr/>
        </p:nvSpPr>
        <p:spPr>
          <a:xfrm>
            <a:off x="502920" y="6473952"/>
            <a:ext cx="11155680" cy="292608"/>
          </a:xfrm>
          <a:prstGeom prst="rect">
            <a:avLst/>
          </a:prstGeom>
          <a:noFill/>
        </p:spPr>
        <p:txBody>
          <a:bodyPr wrap="square" lIns="0" rIns="0" tIns="0" bIns="0">
            <a:noAutofit/>
          </a:bodyPr>
          <a:lstStyle/>
          <a:p>
            <a:pPr algn="l"/>
            <a:r>
              <a:rPr sz="1050" b="0" i="1">
                <a:solidFill>
                  <a:srgbClr val="5A6270"/>
                </a:solidFill>
                <a:latin typeface="Arial"/>
              </a:rPr>
              <a:t>This calendar IS the plan — discipline beats motivation. Sunday is protected for family and faith.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1E42"/>
        </a:solidFill>
        <a:effectLst/>
      </p:bgPr>
    </p:bg>
    <p:spTree>
      <p:nvGrpSpPr>
        <p:cNvPr id="1" name=""/>
        <p:cNvGrpSpPr/>
        <p:nvPr/>
      </p:nvGrpSpPr>
      <p:grpSpPr/>
      <p:sp>
        <p:nvSpPr>
          <p:cNvPr id="2" name="Rectangle 1"/>
          <p:cNvSpPr/>
          <p:nvPr/>
        </p:nvSpPr>
        <p:spPr>
          <a:xfrm>
            <a:off x="822960" y="2103120"/>
            <a:ext cx="1280160" cy="64008"/>
          </a:xfrm>
          <a:prstGeom prst="rect">
            <a:avLst/>
          </a:prstGeom>
          <a:solidFill>
            <a:srgbClr val="D60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95528" y="2304288"/>
            <a:ext cx="10515600" cy="1097280"/>
          </a:xfrm>
          <a:prstGeom prst="rect">
            <a:avLst/>
          </a:prstGeom>
          <a:noFill/>
        </p:spPr>
        <p:txBody>
          <a:bodyPr wrap="square" lIns="0" rIns="0" tIns="0" bIns="0">
            <a:noAutofit/>
          </a:bodyPr>
          <a:lstStyle/>
          <a:p>
            <a:pPr algn="l"/>
            <a:r>
              <a:rPr sz="6000" b="1" i="0">
                <a:solidFill>
                  <a:srgbClr val="FFFFFF"/>
                </a:solidFill>
                <a:latin typeface="Arial"/>
              </a:rPr>
              <a:t>Thank You.</a:t>
            </a:r>
          </a:p>
        </p:txBody>
      </p:sp>
      <p:sp>
        <p:nvSpPr>
          <p:cNvPr id="4" name="TextBox 3"/>
          <p:cNvSpPr txBox="1"/>
          <p:nvPr/>
        </p:nvSpPr>
        <p:spPr>
          <a:xfrm>
            <a:off x="822960" y="3611880"/>
            <a:ext cx="9144000" cy="411480"/>
          </a:xfrm>
          <a:prstGeom prst="rect">
            <a:avLst/>
          </a:prstGeom>
          <a:noFill/>
        </p:spPr>
        <p:txBody>
          <a:bodyPr wrap="square" lIns="0" rIns="0" tIns="0" bIns="0">
            <a:noAutofit/>
          </a:bodyPr>
          <a:lstStyle/>
          <a:p>
            <a:pPr algn="l"/>
            <a:r>
              <a:rPr sz="1500" b="0" i="0">
                <a:solidFill>
                  <a:srgbClr val="B9C4D6"/>
                </a:solidFill>
                <a:latin typeface="Arial"/>
              </a:rPr>
              <a:t>Prepared by:  [Your Name] — Agency Builder</a:t>
            </a:r>
          </a:p>
        </p:txBody>
      </p:sp>
      <p:sp>
        <p:nvSpPr>
          <p:cNvPr id="5" name="TextBox 4"/>
          <p:cNvSpPr txBox="1"/>
          <p:nvPr/>
        </p:nvSpPr>
        <p:spPr>
          <a:xfrm>
            <a:off x="822960" y="5989320"/>
            <a:ext cx="10058400" cy="365760"/>
          </a:xfrm>
          <a:prstGeom prst="rect">
            <a:avLst/>
          </a:prstGeom>
          <a:noFill/>
        </p:spPr>
        <p:txBody>
          <a:bodyPr wrap="square" lIns="0" rIns="0" tIns="0" bIns="0">
            <a:noAutofit/>
          </a:bodyPr>
          <a:lstStyle/>
          <a:p>
            <a:pPr algn="l"/>
            <a:r>
              <a:rPr sz="1200" b="0" i="0">
                <a:solidFill>
                  <a:srgbClr val="B9C4D6"/>
                </a:solidFill>
                <a:latin typeface="Arial"/>
              </a:rPr>
              <a:t>My Agency Game Plan  •  Presentation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21207" y="274320"/>
            <a:ext cx="11155680" cy="292608"/>
          </a:xfrm>
          <a:prstGeom prst="rect">
            <a:avLst/>
          </a:prstGeom>
          <a:noFill/>
        </p:spPr>
        <p:txBody>
          <a:bodyPr wrap="square" lIns="0" rIns="0" tIns="0" bIns="0">
            <a:noAutofit/>
          </a:bodyPr>
          <a:lstStyle/>
          <a:p>
            <a:pPr algn="l"/>
            <a:r>
              <a:rPr sz="1300" b="1" i="0">
                <a:solidFill>
                  <a:srgbClr val="D6001C"/>
                </a:solidFill>
                <a:latin typeface="Arial"/>
              </a:rPr>
              <a:t>MY COMMITMENT</a:t>
            </a:r>
          </a:p>
        </p:txBody>
      </p:sp>
      <p:sp>
        <p:nvSpPr>
          <p:cNvPr id="3" name="TextBox 2"/>
          <p:cNvSpPr txBox="1"/>
          <p:nvPr/>
        </p:nvSpPr>
        <p:spPr>
          <a:xfrm>
            <a:off x="502920" y="548640"/>
            <a:ext cx="11155680" cy="585216"/>
          </a:xfrm>
          <a:prstGeom prst="rect">
            <a:avLst/>
          </a:prstGeom>
          <a:noFill/>
        </p:spPr>
        <p:txBody>
          <a:bodyPr wrap="square" lIns="0" rIns="0" tIns="0" bIns="0">
            <a:noAutofit/>
          </a:bodyPr>
          <a:lstStyle/>
          <a:p>
            <a:pPr algn="l"/>
            <a:r>
              <a:rPr sz="2900" b="1" i="0">
                <a:solidFill>
                  <a:srgbClr val="0A2A5E"/>
                </a:solidFill>
                <a:latin typeface="Arial"/>
              </a:rPr>
              <a:t>This Is My Game Plan.</a:t>
            </a:r>
          </a:p>
        </p:txBody>
      </p:sp>
      <p:sp>
        <p:nvSpPr>
          <p:cNvPr id="4" name="Rectangle 3"/>
          <p:cNvSpPr/>
          <p:nvPr/>
        </p:nvSpPr>
        <p:spPr>
          <a:xfrm>
            <a:off x="521207" y="1188720"/>
            <a:ext cx="1371600" cy="50292"/>
          </a:xfrm>
          <a:prstGeom prst="rect">
            <a:avLst/>
          </a:prstGeom>
          <a:solidFill>
            <a:srgbClr val="D60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19672"/>
            <a:ext cx="5943600" cy="237744"/>
          </a:xfrm>
          <a:prstGeom prst="rect">
            <a:avLst/>
          </a:prstGeom>
          <a:noFill/>
        </p:spPr>
        <p:txBody>
          <a:bodyPr wrap="square" lIns="0" rIns="0" tIns="0" bIns="0">
            <a:noAutofit/>
          </a:bodyPr>
          <a:lstStyle/>
          <a:p>
            <a:pPr algn="l"/>
            <a:r>
              <a:rPr sz="900" b="0" i="0">
                <a:solidFill>
                  <a:srgbClr val="5A6270"/>
                </a:solidFill>
                <a:latin typeface="Arial"/>
              </a:rPr>
              <a:t>My Agency Game Plan — Presentation 2026</a:t>
            </a:r>
          </a:p>
        </p:txBody>
      </p:sp>
      <p:sp>
        <p:nvSpPr>
          <p:cNvPr id="6" name="TextBox 5"/>
          <p:cNvSpPr txBox="1"/>
          <p:nvPr/>
        </p:nvSpPr>
        <p:spPr>
          <a:xfrm>
            <a:off x="6400800" y="6519672"/>
            <a:ext cx="5285232" cy="237744"/>
          </a:xfrm>
          <a:prstGeom prst="rect">
            <a:avLst/>
          </a:prstGeom>
          <a:noFill/>
        </p:spPr>
        <p:txBody>
          <a:bodyPr wrap="square" lIns="0" rIns="0" tIns="0" bIns="0">
            <a:noAutofit/>
          </a:bodyPr>
          <a:lstStyle/>
          <a:p>
            <a:pPr algn="r"/>
            <a:r>
              <a:rPr sz="900" b="0" i="0">
                <a:solidFill>
                  <a:srgbClr val="5A6270"/>
                </a:solidFill>
                <a:latin typeface="Arial"/>
              </a:rPr>
              <a:t>Agency Builder Onboarding Program</a:t>
            </a:r>
          </a:p>
        </p:txBody>
      </p:sp>
      <p:sp>
        <p:nvSpPr>
          <p:cNvPr id="7" name="TextBox 6"/>
          <p:cNvSpPr txBox="1"/>
          <p:nvPr/>
        </p:nvSpPr>
        <p:spPr>
          <a:xfrm>
            <a:off x="502920" y="1600200"/>
            <a:ext cx="11155680" cy="1554480"/>
          </a:xfrm>
          <a:prstGeom prst="rect">
            <a:avLst/>
          </a:prstGeom>
          <a:noFill/>
        </p:spPr>
        <p:txBody>
          <a:bodyPr wrap="square" lIns="0" rIns="0" tIns="0" bIns="0">
            <a:noAutofit/>
          </a:bodyPr>
          <a:lstStyle/>
          <a:p>
            <a:pPr algn="l">
              <a:lnSpc>
                <a:spcPct val="130000"/>
              </a:lnSpc>
            </a:pPr>
            <a:r>
              <a:rPr sz="1550" b="0" i="0">
                <a:solidFill>
                  <a:srgbClr val="21252B"/>
                </a:solidFill>
                <a:latin typeface="Arial"/>
              </a:rPr>
              <a:t>I will work this plan with discipline and a servant's heart — leading with CARE in every client conversation, every recruit I develop, and every family I serve. I will review my numbers weekly, adjust monthly, and never lower the standard — only the deadline.</a:t>
            </a:r>
          </a:p>
        </p:txBody>
      </p:sp>
      <p:sp>
        <p:nvSpPr>
          <p:cNvPr id="8" name="TextBox 7"/>
          <p:cNvSpPr txBox="1"/>
          <p:nvPr/>
        </p:nvSpPr>
        <p:spPr>
          <a:xfrm>
            <a:off x="502920" y="3520440"/>
            <a:ext cx="7315200" cy="411480"/>
          </a:xfrm>
          <a:prstGeom prst="rect">
            <a:avLst/>
          </a:prstGeom>
          <a:noFill/>
        </p:spPr>
        <p:txBody>
          <a:bodyPr wrap="square" lIns="0" rIns="0" tIns="0" bIns="0">
            <a:noAutofit/>
          </a:bodyPr>
          <a:lstStyle/>
          <a:p>
            <a:pPr algn="l"/>
            <a:r>
              <a:rPr sz="1400" b="1" i="0">
                <a:solidFill>
                  <a:srgbClr val="0A2A5E"/>
                </a:solidFill>
                <a:latin typeface="Arial"/>
              </a:rPr>
              <a:t>[Your Name] — Agency Builder</a:t>
            </a:r>
          </a:p>
        </p:txBody>
      </p:sp>
      <p:sp>
        <p:nvSpPr>
          <p:cNvPr id="9" name="Rectangle 8"/>
          <p:cNvSpPr/>
          <p:nvPr/>
        </p:nvSpPr>
        <p:spPr>
          <a:xfrm>
            <a:off x="502920" y="4343400"/>
            <a:ext cx="4297680" cy="16459"/>
          </a:xfrm>
          <a:prstGeom prst="rect">
            <a:avLst/>
          </a:prstGeom>
          <a:solidFill>
            <a:srgbClr val="0A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4434840"/>
            <a:ext cx="4297680" cy="320040"/>
          </a:xfrm>
          <a:prstGeom prst="rect">
            <a:avLst/>
          </a:prstGeom>
          <a:noFill/>
        </p:spPr>
        <p:txBody>
          <a:bodyPr wrap="square" lIns="0" rIns="0" tIns="0" bIns="0">
            <a:noAutofit/>
          </a:bodyPr>
          <a:lstStyle/>
          <a:p>
            <a:pPr algn="l"/>
            <a:r>
              <a:rPr sz="1050" b="0" i="0">
                <a:solidFill>
                  <a:srgbClr val="5A6270"/>
                </a:solidFill>
                <a:latin typeface="Arial"/>
              </a:rPr>
              <a:t>Signature over printed name</a:t>
            </a:r>
          </a:p>
        </p:txBody>
      </p:sp>
      <p:sp>
        <p:nvSpPr>
          <p:cNvPr id="11" name="Rectangle 10"/>
          <p:cNvSpPr/>
          <p:nvPr/>
        </p:nvSpPr>
        <p:spPr>
          <a:xfrm>
            <a:off x="5349240" y="4343400"/>
            <a:ext cx="2926080" cy="16459"/>
          </a:xfrm>
          <a:prstGeom prst="rect">
            <a:avLst/>
          </a:prstGeom>
          <a:solidFill>
            <a:srgbClr val="0A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49240" y="4434840"/>
            <a:ext cx="2926080" cy="320040"/>
          </a:xfrm>
          <a:prstGeom prst="rect">
            <a:avLst/>
          </a:prstGeom>
          <a:noFill/>
        </p:spPr>
        <p:txBody>
          <a:bodyPr wrap="square" lIns="0" rIns="0" tIns="0" bIns="0">
            <a:noAutofit/>
          </a:bodyPr>
          <a:lstStyle/>
          <a:p>
            <a:pPr algn="l"/>
            <a:r>
              <a:rPr sz="1050" b="0" i="0">
                <a:solidFill>
                  <a:srgbClr val="5A6270"/>
                </a:solidFill>
                <a:latin typeface="Arial"/>
              </a:rPr>
              <a:t>Date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